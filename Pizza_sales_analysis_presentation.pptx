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7" d="100"/>
          <a:sy n="67" d="100"/>
        </p:scale>
        <p:origin x="5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523406796372677"/>
          <c:y val="0.18064933466397587"/>
          <c:w val="0.57976280742684938"/>
          <c:h val="0.67972352270785164"/>
        </c:manualLayout>
      </c:layout>
      <c:pie3DChart>
        <c:varyColors val="1"/>
        <c:ser>
          <c:idx val="0"/>
          <c:order val="0"/>
          <c:tx>
            <c:strRef>
              <c:f>Sheet1!$B$1</c:f>
              <c:strCache>
                <c:ptCount val="1"/>
                <c:pt idx="0">
                  <c:v>Percentage Contribution</c:v>
                </c:pt>
              </c:strCache>
            </c:strRef>
          </c:tx>
          <c:dPt>
            <c:idx val="0"/>
            <c:bubble3D val="0"/>
            <c:spPr>
              <a:solidFill>
                <a:schemeClr val="accent6">
                  <a:shade val="58000"/>
                </a:schemeClr>
              </a:solidFill>
              <a:ln>
                <a:noFill/>
              </a:ln>
              <a:effectLst>
                <a:outerShdw blurRad="254000" sx="102000" sy="102000" algn="ctr" rotWithShape="0">
                  <a:prstClr val="black">
                    <a:alpha val="20000"/>
                  </a:prstClr>
                </a:outerShdw>
              </a:effectLst>
              <a:sp3d/>
            </c:spPr>
          </c:dPt>
          <c:dPt>
            <c:idx val="1"/>
            <c:bubble3D val="0"/>
            <c:spPr>
              <a:solidFill>
                <a:schemeClr val="accent6">
                  <a:shade val="86000"/>
                </a:schemeClr>
              </a:solidFill>
              <a:ln>
                <a:noFill/>
              </a:ln>
              <a:effectLst>
                <a:outerShdw blurRad="254000" sx="102000" sy="102000" algn="ctr" rotWithShape="0">
                  <a:prstClr val="black">
                    <a:alpha val="20000"/>
                  </a:prstClr>
                </a:outerShdw>
              </a:effectLst>
              <a:sp3d/>
            </c:spPr>
          </c:dPt>
          <c:dPt>
            <c:idx val="2"/>
            <c:bubble3D val="0"/>
            <c:spPr>
              <a:solidFill>
                <a:schemeClr val="accent6">
                  <a:tint val="86000"/>
                </a:schemeClr>
              </a:solidFill>
              <a:ln>
                <a:noFill/>
              </a:ln>
              <a:effectLst>
                <a:outerShdw blurRad="254000" sx="102000" sy="102000" algn="ctr" rotWithShape="0">
                  <a:prstClr val="black">
                    <a:alpha val="20000"/>
                  </a:prstClr>
                </a:outerShdw>
              </a:effectLst>
              <a:sp3d/>
            </c:spPr>
          </c:dPt>
          <c:dPt>
            <c:idx val="3"/>
            <c:bubble3D val="0"/>
            <c:spPr>
              <a:solidFill>
                <a:schemeClr val="accent6">
                  <a:tint val="58000"/>
                </a:schemeClr>
              </a:solidFill>
              <a:ln>
                <a:noFill/>
              </a:ln>
              <a:effectLst>
                <a:outerShdw blurRad="254000" sx="102000" sy="102000" algn="ctr" rotWithShape="0">
                  <a:prstClr val="black">
                    <a:alpha val="20000"/>
                  </a:prstClr>
                </a:outerShdw>
              </a:effectLst>
              <a:sp3d/>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Sheet1!$A$2:$A$5</c:f>
              <c:strCache>
                <c:ptCount val="4"/>
                <c:pt idx="0">
                  <c:v>Classic</c:v>
                </c:pt>
                <c:pt idx="1">
                  <c:v>Supreme</c:v>
                </c:pt>
                <c:pt idx="2">
                  <c:v>Chicken</c:v>
                </c:pt>
                <c:pt idx="3">
                  <c:v>Veggie</c:v>
                </c:pt>
              </c:strCache>
            </c:strRef>
          </c:cat>
          <c:val>
            <c:numRef>
              <c:f>Sheet1!$B$2:$B$5</c:f>
              <c:numCache>
                <c:formatCode>General</c:formatCode>
                <c:ptCount val="4"/>
                <c:pt idx="0">
                  <c:v>26.91</c:v>
                </c:pt>
                <c:pt idx="1">
                  <c:v>25.46</c:v>
                </c:pt>
                <c:pt idx="2">
                  <c:v>23.96</c:v>
                </c:pt>
                <c:pt idx="3">
                  <c:v>23.68</c:v>
                </c:pt>
              </c:numCache>
            </c:numRef>
          </c:val>
          <c:extLst>
            <c:ext xmlns:c16="http://schemas.microsoft.com/office/drawing/2014/chart" uri="{C3380CC4-5D6E-409C-BE32-E72D297353CC}">
              <c16:uniqueId val="{00000000-2F19-4CFE-B2F8-2C4CB7D97EF8}"/>
            </c:ext>
          </c:extLst>
        </c:ser>
        <c:dLbls>
          <c:dLblPos val="ctr"/>
          <c:showLegendKey val="0"/>
          <c:showVal val="0"/>
          <c:showCatName val="0"/>
          <c:showSerName val="0"/>
          <c:showPercent val="1"/>
          <c:showBubbleSize val="0"/>
          <c:showLeaderLines val="1"/>
        </c:dLbls>
      </c:pie3DChart>
      <c:spPr>
        <a:noFill/>
        <a:ln>
          <a:noFill/>
        </a:ln>
        <a:effectLst/>
      </c:spPr>
    </c:plotArea>
    <c:legend>
      <c:legendPos val="r"/>
      <c:layout>
        <c:manualLayout>
          <c:xMode val="edge"/>
          <c:yMode val="edge"/>
          <c:x val="0.76071796580982931"/>
          <c:y val="0.18535543475084545"/>
          <c:w val="0.23928203419017066"/>
          <c:h val="0.60647900120342269"/>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Quantity Sold</c:v>
                </c:pt>
              </c:strCache>
            </c:strRef>
          </c:tx>
          <c:spPr>
            <a:solidFill>
              <a:schemeClr val="accent6">
                <a:shade val="65000"/>
                <a:alpha val="85000"/>
              </a:schemeClr>
            </a:solidFill>
            <a:ln w="9525" cap="flat" cmpd="sng" algn="ctr">
              <a:solidFill>
                <a:schemeClr val="accent6">
                  <a:shade val="65000"/>
                  <a:lumMod val="75000"/>
                </a:schemeClr>
              </a:solidFill>
              <a:round/>
            </a:ln>
            <a:effectLst/>
            <a:sp3d contourW="9525">
              <a:contourClr>
                <a:schemeClr val="accent6">
                  <a:shade val="65000"/>
                  <a:lumMod val="75000"/>
                </a:schemeClr>
              </a:contourClr>
            </a:sp3d>
          </c:spPr>
          <c:invertIfNegative val="0"/>
          <c:cat>
            <c:strRef>
              <c:f>Sheet1!$A$2:$A$5</c:f>
              <c:strCache>
                <c:ptCount val="4"/>
                <c:pt idx="0">
                  <c:v>Classic</c:v>
                </c:pt>
                <c:pt idx="1">
                  <c:v>Supreme</c:v>
                </c:pt>
                <c:pt idx="2">
                  <c:v>Chicken</c:v>
                </c:pt>
                <c:pt idx="3">
                  <c:v>Veggie</c:v>
                </c:pt>
              </c:strCache>
            </c:strRef>
          </c:cat>
          <c:val>
            <c:numRef>
              <c:f>Sheet1!$B$2:$B$5</c:f>
              <c:numCache>
                <c:formatCode>General</c:formatCode>
                <c:ptCount val="4"/>
                <c:pt idx="0">
                  <c:v>14888</c:v>
                </c:pt>
                <c:pt idx="1">
                  <c:v>11987</c:v>
                </c:pt>
                <c:pt idx="2">
                  <c:v>11050</c:v>
                </c:pt>
                <c:pt idx="3">
                  <c:v>11649</c:v>
                </c:pt>
              </c:numCache>
            </c:numRef>
          </c:val>
          <c:extLst>
            <c:ext xmlns:c16="http://schemas.microsoft.com/office/drawing/2014/chart" uri="{C3380CC4-5D6E-409C-BE32-E72D297353CC}">
              <c16:uniqueId val="{00000000-4A3F-4533-8C30-F11E98592238}"/>
            </c:ext>
          </c:extLst>
        </c:ser>
        <c:ser>
          <c:idx val="1"/>
          <c:order val="1"/>
          <c:tx>
            <c:strRef>
              <c:f>Sheet1!$C$1</c:f>
              <c:strCache>
                <c:ptCount val="1"/>
                <c:pt idx="0">
                  <c:v>Column2</c:v>
                </c:pt>
              </c:strCache>
            </c:strRef>
          </c:tx>
          <c:spPr>
            <a:solidFill>
              <a:schemeClr val="accent6">
                <a:alpha val="85000"/>
              </a:schemeClr>
            </a:solidFill>
            <a:ln w="9525" cap="flat" cmpd="sng" algn="ctr">
              <a:solidFill>
                <a:schemeClr val="accent6">
                  <a:lumMod val="75000"/>
                </a:schemeClr>
              </a:solidFill>
              <a:round/>
            </a:ln>
            <a:effectLst/>
            <a:sp3d contourW="9525">
              <a:contourClr>
                <a:schemeClr val="accent6">
                  <a:lumMod val="75000"/>
                </a:schemeClr>
              </a:contourClr>
            </a:sp3d>
          </c:spPr>
          <c:invertIfNegative val="0"/>
          <c:cat>
            <c:strRef>
              <c:f>Sheet1!$A$2:$A$5</c:f>
              <c:strCache>
                <c:ptCount val="4"/>
                <c:pt idx="0">
                  <c:v>Classic</c:v>
                </c:pt>
                <c:pt idx="1">
                  <c:v>Supreme</c:v>
                </c:pt>
                <c:pt idx="2">
                  <c:v>Chicken</c:v>
                </c:pt>
                <c:pt idx="3">
                  <c:v>Veggie</c:v>
                </c:pt>
              </c:strCache>
            </c:strRef>
          </c:cat>
          <c:val>
            <c:numRef>
              <c:f>Sheet1!$C$2:$C$5</c:f>
              <c:numCache>
                <c:formatCode>General</c:formatCode>
                <c:ptCount val="4"/>
              </c:numCache>
            </c:numRef>
          </c:val>
          <c:extLst>
            <c:ext xmlns:c16="http://schemas.microsoft.com/office/drawing/2014/chart" uri="{C3380CC4-5D6E-409C-BE32-E72D297353CC}">
              <c16:uniqueId val="{00000001-4A3F-4533-8C30-F11E98592238}"/>
            </c:ext>
          </c:extLst>
        </c:ser>
        <c:ser>
          <c:idx val="2"/>
          <c:order val="2"/>
          <c:tx>
            <c:strRef>
              <c:f>Sheet1!$D$1</c:f>
              <c:strCache>
                <c:ptCount val="1"/>
                <c:pt idx="0">
                  <c:v>Column1</c:v>
                </c:pt>
              </c:strCache>
            </c:strRef>
          </c:tx>
          <c:spPr>
            <a:solidFill>
              <a:schemeClr val="accent6">
                <a:tint val="65000"/>
                <a:alpha val="85000"/>
              </a:schemeClr>
            </a:solidFill>
            <a:ln w="9525" cap="flat" cmpd="sng" algn="ctr">
              <a:solidFill>
                <a:schemeClr val="accent6">
                  <a:tint val="65000"/>
                  <a:lumMod val="75000"/>
                </a:schemeClr>
              </a:solidFill>
              <a:round/>
            </a:ln>
            <a:effectLst/>
            <a:sp3d contourW="9525">
              <a:contourClr>
                <a:schemeClr val="accent6">
                  <a:tint val="65000"/>
                  <a:lumMod val="75000"/>
                </a:schemeClr>
              </a:contourClr>
            </a:sp3d>
          </c:spPr>
          <c:invertIfNegative val="0"/>
          <c:cat>
            <c:strRef>
              <c:f>Sheet1!$A$2:$A$5</c:f>
              <c:strCache>
                <c:ptCount val="4"/>
                <c:pt idx="0">
                  <c:v>Classic</c:v>
                </c:pt>
                <c:pt idx="1">
                  <c:v>Supreme</c:v>
                </c:pt>
                <c:pt idx="2">
                  <c:v>Chicken</c:v>
                </c:pt>
                <c:pt idx="3">
                  <c:v>Veggie</c:v>
                </c:pt>
              </c:strCache>
            </c:strRef>
          </c:cat>
          <c:val>
            <c:numRef>
              <c:f>Sheet1!$D$2:$D$5</c:f>
              <c:numCache>
                <c:formatCode>General</c:formatCode>
                <c:ptCount val="4"/>
              </c:numCache>
            </c:numRef>
          </c:val>
          <c:extLst>
            <c:ext xmlns:c16="http://schemas.microsoft.com/office/drawing/2014/chart" uri="{C3380CC4-5D6E-409C-BE32-E72D297353CC}">
              <c16:uniqueId val="{00000002-4A3F-4533-8C30-F11E98592238}"/>
            </c:ext>
          </c:extLst>
        </c:ser>
        <c:dLbls>
          <c:showLegendKey val="0"/>
          <c:showVal val="0"/>
          <c:showCatName val="0"/>
          <c:showSerName val="0"/>
          <c:showPercent val="0"/>
          <c:showBubbleSize val="0"/>
        </c:dLbls>
        <c:gapWidth val="65"/>
        <c:shape val="box"/>
        <c:axId val="1596322463"/>
        <c:axId val="1596322943"/>
        <c:axId val="0"/>
      </c:bar3DChart>
      <c:catAx>
        <c:axId val="159632246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596322943"/>
        <c:crosses val="autoZero"/>
        <c:auto val="1"/>
        <c:lblAlgn val="ctr"/>
        <c:lblOffset val="100"/>
        <c:noMultiLvlLbl val="0"/>
      </c:catAx>
      <c:valAx>
        <c:axId val="1596322943"/>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15963224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4F7763-7194-4BA3-AAA1-9241711F80C2}" type="doc">
      <dgm:prSet loTypeId="urn:microsoft.com/office/officeart/2005/8/layout/chevronAccent+Icon" loCatId="officeonline" qsTypeId="urn:microsoft.com/office/officeart/2005/8/quickstyle/3d4" qsCatId="3D" csTypeId="urn:microsoft.com/office/officeart/2005/8/colors/accent6_4" csCatId="accent6" phldr="1"/>
      <dgm:spPr/>
      <dgm:t>
        <a:bodyPr/>
        <a:lstStyle/>
        <a:p>
          <a:endParaRPr lang="en-US"/>
        </a:p>
      </dgm:t>
    </dgm:pt>
    <dgm:pt modelId="{35E562BE-98EF-40D7-ABD0-B8A98F11FAD1}">
      <dgm:prSet phldrT="[Text]" phldr="0" custT="1"/>
      <dgm:spPr/>
      <dgm:t>
        <a:bodyPr/>
        <a:lstStyle/>
        <a:p>
          <a:r>
            <a:rPr lang="en-US" sz="1400" b="1" dirty="0">
              <a:effectLst>
                <a:outerShdw blurRad="38100" dist="38100" dir="2700000" algn="tl">
                  <a:srgbClr val="000000">
                    <a:alpha val="43137"/>
                  </a:srgbClr>
                </a:outerShdw>
              </a:effectLst>
            </a:rPr>
            <a:t>Orders</a:t>
          </a:r>
          <a:r>
            <a:rPr lang="en-US" sz="1200" b="0" dirty="0">
              <a:effectLst>
                <a:outerShdw blurRad="38100" dist="38100" dir="2700000" algn="tl">
                  <a:srgbClr val="000000">
                    <a:alpha val="43137"/>
                  </a:srgbClr>
                </a:outerShdw>
              </a:effectLst>
            </a:rPr>
            <a:t> </a:t>
          </a:r>
        </a:p>
        <a:p>
          <a:r>
            <a:rPr lang="en-US" sz="1200" b="0" dirty="0">
              <a:effectLst>
                <a:outerShdw blurRad="38100" dist="38100" dir="2700000" algn="tl">
                  <a:srgbClr val="000000">
                    <a:alpha val="43137"/>
                  </a:srgbClr>
                </a:outerShdw>
              </a:effectLst>
            </a:rPr>
            <a:t>(order_id, order_date, order_time)</a:t>
          </a:r>
        </a:p>
      </dgm:t>
    </dgm:pt>
    <dgm:pt modelId="{C7896EAC-E0EA-4B58-9004-CE4C3963230C}" type="parTrans" cxnId="{B8C573E6-B023-4571-A606-62FE20CA296E}">
      <dgm:prSet/>
      <dgm:spPr/>
      <dgm:t>
        <a:bodyPr/>
        <a:lstStyle/>
        <a:p>
          <a:endParaRPr lang="en-US"/>
        </a:p>
      </dgm:t>
    </dgm:pt>
    <dgm:pt modelId="{07042A88-729E-4017-B3C4-29F7F47A0095}" type="sibTrans" cxnId="{B8C573E6-B023-4571-A606-62FE20CA296E}">
      <dgm:prSet/>
      <dgm:spPr/>
      <dgm:t>
        <a:bodyPr/>
        <a:lstStyle/>
        <a:p>
          <a:endParaRPr lang="en-US"/>
        </a:p>
      </dgm:t>
    </dgm:pt>
    <dgm:pt modelId="{F897E728-C412-408E-8FA5-2F4B0C38320D}">
      <dgm:prSet phldrT="[Text]" phldr="0" custT="1"/>
      <dgm:spPr/>
      <dgm:t>
        <a:bodyPr/>
        <a:lstStyle/>
        <a:p>
          <a:r>
            <a:rPr lang="en-US" sz="1400" b="1" dirty="0">
              <a:effectLst>
                <a:outerShdw blurRad="38100" dist="38100" dir="2700000" algn="tl">
                  <a:srgbClr val="000000">
                    <a:alpha val="43137"/>
                  </a:srgbClr>
                </a:outerShdw>
              </a:effectLst>
            </a:rPr>
            <a:t>Order Details</a:t>
          </a:r>
        </a:p>
        <a:p>
          <a:r>
            <a:rPr lang="en-US" sz="1200" dirty="0">
              <a:effectLst>
                <a:outerShdw blurRad="38100" dist="38100" dir="2700000" algn="tl">
                  <a:srgbClr val="000000">
                    <a:alpha val="43137"/>
                  </a:srgbClr>
                </a:outerShdw>
              </a:effectLst>
            </a:rPr>
            <a:t>(order_details_id, order_id, pizza_id, quantity)    </a:t>
          </a:r>
        </a:p>
      </dgm:t>
    </dgm:pt>
    <dgm:pt modelId="{51EA783B-0126-410B-AC1D-14A9C4B51FC1}" type="parTrans" cxnId="{8F3179D6-8303-40C5-9D73-51F181AD99F4}">
      <dgm:prSet/>
      <dgm:spPr/>
      <dgm:t>
        <a:bodyPr/>
        <a:lstStyle/>
        <a:p>
          <a:endParaRPr lang="en-US"/>
        </a:p>
      </dgm:t>
    </dgm:pt>
    <dgm:pt modelId="{AB59FC2D-1F5A-4273-9139-CCBBD2F6CCBC}" type="sibTrans" cxnId="{8F3179D6-8303-40C5-9D73-51F181AD99F4}">
      <dgm:prSet/>
      <dgm:spPr/>
      <dgm:t>
        <a:bodyPr/>
        <a:lstStyle/>
        <a:p>
          <a:endParaRPr lang="en-US"/>
        </a:p>
      </dgm:t>
    </dgm:pt>
    <dgm:pt modelId="{631E8022-45F0-4B65-B247-E1CB6A96B06A}">
      <dgm:prSet phldrT="[Text]" phldr="0" custT="1"/>
      <dgm:spPr/>
      <dgm:t>
        <a:bodyPr/>
        <a:lstStyle/>
        <a:p>
          <a:r>
            <a:rPr lang="en-US" sz="1400" b="1" dirty="0">
              <a:effectLst>
                <a:outerShdw blurRad="38100" dist="38100" dir="2700000" algn="tl">
                  <a:srgbClr val="000000">
                    <a:alpha val="43137"/>
                  </a:srgbClr>
                </a:outerShdw>
              </a:effectLst>
            </a:rPr>
            <a:t>Pizzas</a:t>
          </a:r>
          <a:r>
            <a:rPr lang="en-US" sz="1400" dirty="0">
              <a:effectLst>
                <a:outerShdw blurRad="38100" dist="38100" dir="2700000" algn="tl">
                  <a:srgbClr val="000000">
                    <a:alpha val="43137"/>
                  </a:srgbClr>
                </a:outerShdw>
              </a:effectLst>
            </a:rPr>
            <a:t> </a:t>
          </a:r>
        </a:p>
        <a:p>
          <a:r>
            <a:rPr lang="en-US" sz="1300" dirty="0">
              <a:effectLst>
                <a:outerShdw blurRad="38100" dist="38100" dir="2700000" algn="tl">
                  <a:srgbClr val="000000">
                    <a:alpha val="43137"/>
                  </a:srgbClr>
                </a:outerShdw>
              </a:effectLst>
            </a:rPr>
            <a:t>(pizza_id, pizza_type_id, size, price) </a:t>
          </a:r>
        </a:p>
      </dgm:t>
    </dgm:pt>
    <dgm:pt modelId="{A5D49E10-1820-4470-B123-9F093B7577CC}" type="parTrans" cxnId="{C79C822D-8011-4266-8CFE-684A519A33B6}">
      <dgm:prSet/>
      <dgm:spPr/>
      <dgm:t>
        <a:bodyPr/>
        <a:lstStyle/>
        <a:p>
          <a:endParaRPr lang="en-US"/>
        </a:p>
      </dgm:t>
    </dgm:pt>
    <dgm:pt modelId="{EF2AEA0C-0A3D-4FE7-90BB-898FA162755C}" type="sibTrans" cxnId="{C79C822D-8011-4266-8CFE-684A519A33B6}">
      <dgm:prSet/>
      <dgm:spPr/>
      <dgm:t>
        <a:bodyPr/>
        <a:lstStyle/>
        <a:p>
          <a:endParaRPr lang="en-US"/>
        </a:p>
      </dgm:t>
    </dgm:pt>
    <dgm:pt modelId="{2B1B8B2F-C2AE-4561-AC7A-8FC0D64BD07D}">
      <dgm:prSet phldrT="[Text]" phldr="0" custT="1"/>
      <dgm:spPr/>
      <dgm:t>
        <a:bodyPr/>
        <a:lstStyle/>
        <a:p>
          <a:r>
            <a:rPr lang="en-US" sz="1400" b="1" dirty="0">
              <a:effectLst>
                <a:outerShdw blurRad="38100" dist="38100" dir="2700000" algn="tl">
                  <a:srgbClr val="000000">
                    <a:alpha val="43137"/>
                  </a:srgbClr>
                </a:outerShdw>
              </a:effectLst>
            </a:rPr>
            <a:t>Pizza Types </a:t>
          </a:r>
        </a:p>
        <a:p>
          <a:r>
            <a:rPr lang="en-US" sz="1300" dirty="0">
              <a:effectLst>
                <a:outerShdw blurRad="38100" dist="38100" dir="2700000" algn="tl">
                  <a:srgbClr val="000000">
                    <a:alpha val="43137"/>
                  </a:srgbClr>
                </a:outerShdw>
              </a:effectLst>
            </a:rPr>
            <a:t>(pizza_type_id, name, category)</a:t>
          </a:r>
        </a:p>
      </dgm:t>
    </dgm:pt>
    <dgm:pt modelId="{FA8BCC13-E82D-43AC-BBBB-74AA27021B2B}" type="parTrans" cxnId="{2DCC71FD-2C41-4775-B05A-3B1DCF2467B2}">
      <dgm:prSet/>
      <dgm:spPr/>
      <dgm:t>
        <a:bodyPr/>
        <a:lstStyle/>
        <a:p>
          <a:endParaRPr lang="en-US"/>
        </a:p>
      </dgm:t>
    </dgm:pt>
    <dgm:pt modelId="{7742220A-45EF-4275-8D82-5F802008AD96}" type="sibTrans" cxnId="{2DCC71FD-2C41-4775-B05A-3B1DCF2467B2}">
      <dgm:prSet/>
      <dgm:spPr/>
      <dgm:t>
        <a:bodyPr/>
        <a:lstStyle/>
        <a:p>
          <a:endParaRPr lang="en-US"/>
        </a:p>
      </dgm:t>
    </dgm:pt>
    <dgm:pt modelId="{4DDDC92B-8D64-4798-B6A7-2512F3E0209E}" type="pres">
      <dgm:prSet presAssocID="{E44F7763-7194-4BA3-AAA1-9241711F80C2}" presName="Name0" presStyleCnt="0">
        <dgm:presLayoutVars>
          <dgm:dir/>
          <dgm:resizeHandles val="exact"/>
        </dgm:presLayoutVars>
      </dgm:prSet>
      <dgm:spPr/>
    </dgm:pt>
    <dgm:pt modelId="{827ED560-355C-4FC2-B6BB-A2375903A8A7}" type="pres">
      <dgm:prSet presAssocID="{35E562BE-98EF-40D7-ABD0-B8A98F11FAD1}" presName="composite" presStyleCnt="0"/>
      <dgm:spPr/>
    </dgm:pt>
    <dgm:pt modelId="{B56B95AB-9A65-46A0-BAB6-BFE86815E1D4}" type="pres">
      <dgm:prSet presAssocID="{35E562BE-98EF-40D7-ABD0-B8A98F11FAD1}" presName="bgChev" presStyleLbl="node1" presStyleIdx="0" presStyleCnt="4"/>
      <dgm:spPr/>
    </dgm:pt>
    <dgm:pt modelId="{2F5F5266-4E1D-45CB-BE77-5CA0360BDB66}" type="pres">
      <dgm:prSet presAssocID="{35E562BE-98EF-40D7-ABD0-B8A98F11FAD1}" presName="txNode" presStyleLbl="fgAcc1" presStyleIdx="0" presStyleCnt="4">
        <dgm:presLayoutVars>
          <dgm:bulletEnabled val="1"/>
        </dgm:presLayoutVars>
      </dgm:prSet>
      <dgm:spPr/>
    </dgm:pt>
    <dgm:pt modelId="{C89CED5A-CE7A-46BC-8E92-A4025B17D39F}" type="pres">
      <dgm:prSet presAssocID="{07042A88-729E-4017-B3C4-29F7F47A0095}" presName="compositeSpace" presStyleCnt="0"/>
      <dgm:spPr/>
    </dgm:pt>
    <dgm:pt modelId="{E081EEEB-7492-44C4-813E-D265EC097DA6}" type="pres">
      <dgm:prSet presAssocID="{F897E728-C412-408E-8FA5-2F4B0C38320D}" presName="composite" presStyleCnt="0"/>
      <dgm:spPr/>
    </dgm:pt>
    <dgm:pt modelId="{11D8570D-8F0F-4A21-8798-900BE9E9915D}" type="pres">
      <dgm:prSet presAssocID="{F897E728-C412-408E-8FA5-2F4B0C38320D}" presName="bgChev" presStyleLbl="node1" presStyleIdx="1" presStyleCnt="4"/>
      <dgm:spPr/>
    </dgm:pt>
    <dgm:pt modelId="{0CA14F7C-DB34-4D9A-A77E-640B2D8ACA01}" type="pres">
      <dgm:prSet presAssocID="{F897E728-C412-408E-8FA5-2F4B0C38320D}" presName="txNode" presStyleLbl="fgAcc1" presStyleIdx="1" presStyleCnt="4">
        <dgm:presLayoutVars>
          <dgm:bulletEnabled val="1"/>
        </dgm:presLayoutVars>
      </dgm:prSet>
      <dgm:spPr/>
    </dgm:pt>
    <dgm:pt modelId="{2891BAE9-27F8-4881-A4F2-67481CBBAE05}" type="pres">
      <dgm:prSet presAssocID="{AB59FC2D-1F5A-4273-9139-CCBBD2F6CCBC}" presName="compositeSpace" presStyleCnt="0"/>
      <dgm:spPr/>
    </dgm:pt>
    <dgm:pt modelId="{5C4052AA-DAF8-4799-A7B7-DA7C4AAB9015}" type="pres">
      <dgm:prSet presAssocID="{631E8022-45F0-4B65-B247-E1CB6A96B06A}" presName="composite" presStyleCnt="0"/>
      <dgm:spPr/>
    </dgm:pt>
    <dgm:pt modelId="{7417FEF9-70AC-4795-B23F-20C8457DA97C}" type="pres">
      <dgm:prSet presAssocID="{631E8022-45F0-4B65-B247-E1CB6A96B06A}" presName="bgChev" presStyleLbl="node1" presStyleIdx="2" presStyleCnt="4"/>
      <dgm:spPr/>
    </dgm:pt>
    <dgm:pt modelId="{4774AB85-19E3-4A0F-A24A-531C0235CE08}" type="pres">
      <dgm:prSet presAssocID="{631E8022-45F0-4B65-B247-E1CB6A96B06A}" presName="txNode" presStyleLbl="fgAcc1" presStyleIdx="2" presStyleCnt="4">
        <dgm:presLayoutVars>
          <dgm:bulletEnabled val="1"/>
        </dgm:presLayoutVars>
      </dgm:prSet>
      <dgm:spPr/>
    </dgm:pt>
    <dgm:pt modelId="{9599E085-1EFB-4DE9-A79A-9F2F9EEDA9C9}" type="pres">
      <dgm:prSet presAssocID="{EF2AEA0C-0A3D-4FE7-90BB-898FA162755C}" presName="compositeSpace" presStyleCnt="0"/>
      <dgm:spPr/>
    </dgm:pt>
    <dgm:pt modelId="{53F3F897-8EDF-4E0D-B2DF-AB537F7D9452}" type="pres">
      <dgm:prSet presAssocID="{2B1B8B2F-C2AE-4561-AC7A-8FC0D64BD07D}" presName="composite" presStyleCnt="0"/>
      <dgm:spPr/>
    </dgm:pt>
    <dgm:pt modelId="{A85673F5-3E8F-46F6-BC82-F74584C1B797}" type="pres">
      <dgm:prSet presAssocID="{2B1B8B2F-C2AE-4561-AC7A-8FC0D64BD07D}" presName="bgChev" presStyleLbl="node1" presStyleIdx="3" presStyleCnt="4"/>
      <dgm:spPr/>
    </dgm:pt>
    <dgm:pt modelId="{38C84C5F-1CEE-4EB5-B064-A30A32179267}" type="pres">
      <dgm:prSet presAssocID="{2B1B8B2F-C2AE-4561-AC7A-8FC0D64BD07D}" presName="txNode" presStyleLbl="fgAcc1" presStyleIdx="3" presStyleCnt="4">
        <dgm:presLayoutVars>
          <dgm:bulletEnabled val="1"/>
        </dgm:presLayoutVars>
      </dgm:prSet>
      <dgm:spPr/>
    </dgm:pt>
  </dgm:ptLst>
  <dgm:cxnLst>
    <dgm:cxn modelId="{C79C822D-8011-4266-8CFE-684A519A33B6}" srcId="{E44F7763-7194-4BA3-AAA1-9241711F80C2}" destId="{631E8022-45F0-4B65-B247-E1CB6A96B06A}" srcOrd="2" destOrd="0" parTransId="{A5D49E10-1820-4470-B123-9F093B7577CC}" sibTransId="{EF2AEA0C-0A3D-4FE7-90BB-898FA162755C}"/>
    <dgm:cxn modelId="{95424F34-8148-4F54-8034-2EFA2D1798E3}" type="presOf" srcId="{E44F7763-7194-4BA3-AAA1-9241711F80C2}" destId="{4DDDC92B-8D64-4798-B6A7-2512F3E0209E}" srcOrd="0" destOrd="0" presId="urn:microsoft.com/office/officeart/2005/8/layout/chevronAccent+Icon"/>
    <dgm:cxn modelId="{F28EE873-B8E8-40FD-A1E4-3BB1077CA7DB}" type="presOf" srcId="{631E8022-45F0-4B65-B247-E1CB6A96B06A}" destId="{4774AB85-19E3-4A0F-A24A-531C0235CE08}" srcOrd="0" destOrd="0" presId="urn:microsoft.com/office/officeart/2005/8/layout/chevronAccent+Icon"/>
    <dgm:cxn modelId="{64F0067C-B66A-40C7-8314-71BD03719811}" type="presOf" srcId="{2B1B8B2F-C2AE-4561-AC7A-8FC0D64BD07D}" destId="{38C84C5F-1CEE-4EB5-B064-A30A32179267}" srcOrd="0" destOrd="0" presId="urn:microsoft.com/office/officeart/2005/8/layout/chevronAccent+Icon"/>
    <dgm:cxn modelId="{2AAAAF89-E1E7-4A33-90EF-B2B70E65B291}" type="presOf" srcId="{F897E728-C412-408E-8FA5-2F4B0C38320D}" destId="{0CA14F7C-DB34-4D9A-A77E-640B2D8ACA01}" srcOrd="0" destOrd="0" presId="urn:microsoft.com/office/officeart/2005/8/layout/chevronAccent+Icon"/>
    <dgm:cxn modelId="{8F3179D6-8303-40C5-9D73-51F181AD99F4}" srcId="{E44F7763-7194-4BA3-AAA1-9241711F80C2}" destId="{F897E728-C412-408E-8FA5-2F4B0C38320D}" srcOrd="1" destOrd="0" parTransId="{51EA783B-0126-410B-AC1D-14A9C4B51FC1}" sibTransId="{AB59FC2D-1F5A-4273-9139-CCBBD2F6CCBC}"/>
    <dgm:cxn modelId="{B8C573E6-B023-4571-A606-62FE20CA296E}" srcId="{E44F7763-7194-4BA3-AAA1-9241711F80C2}" destId="{35E562BE-98EF-40D7-ABD0-B8A98F11FAD1}" srcOrd="0" destOrd="0" parTransId="{C7896EAC-E0EA-4B58-9004-CE4C3963230C}" sibTransId="{07042A88-729E-4017-B3C4-29F7F47A0095}"/>
    <dgm:cxn modelId="{CBE7AEF3-72AC-4776-9CFC-A6492C22B4E2}" type="presOf" srcId="{35E562BE-98EF-40D7-ABD0-B8A98F11FAD1}" destId="{2F5F5266-4E1D-45CB-BE77-5CA0360BDB66}" srcOrd="0" destOrd="0" presId="urn:microsoft.com/office/officeart/2005/8/layout/chevronAccent+Icon"/>
    <dgm:cxn modelId="{2DCC71FD-2C41-4775-B05A-3B1DCF2467B2}" srcId="{E44F7763-7194-4BA3-AAA1-9241711F80C2}" destId="{2B1B8B2F-C2AE-4561-AC7A-8FC0D64BD07D}" srcOrd="3" destOrd="0" parTransId="{FA8BCC13-E82D-43AC-BBBB-74AA27021B2B}" sibTransId="{7742220A-45EF-4275-8D82-5F802008AD96}"/>
    <dgm:cxn modelId="{DE198214-2DE9-4F0A-8781-E5B3D2CED8BB}" type="presParOf" srcId="{4DDDC92B-8D64-4798-B6A7-2512F3E0209E}" destId="{827ED560-355C-4FC2-B6BB-A2375903A8A7}" srcOrd="0" destOrd="0" presId="urn:microsoft.com/office/officeart/2005/8/layout/chevronAccent+Icon"/>
    <dgm:cxn modelId="{EF8D9B7C-DDEC-4AFA-AA30-A98A25A816D8}" type="presParOf" srcId="{827ED560-355C-4FC2-B6BB-A2375903A8A7}" destId="{B56B95AB-9A65-46A0-BAB6-BFE86815E1D4}" srcOrd="0" destOrd="0" presId="urn:microsoft.com/office/officeart/2005/8/layout/chevronAccent+Icon"/>
    <dgm:cxn modelId="{13D0B69E-6DFC-430A-9AF7-C086B090F416}" type="presParOf" srcId="{827ED560-355C-4FC2-B6BB-A2375903A8A7}" destId="{2F5F5266-4E1D-45CB-BE77-5CA0360BDB66}" srcOrd="1" destOrd="0" presId="urn:microsoft.com/office/officeart/2005/8/layout/chevronAccent+Icon"/>
    <dgm:cxn modelId="{0381CC58-441C-469E-B408-12B962419938}" type="presParOf" srcId="{4DDDC92B-8D64-4798-B6A7-2512F3E0209E}" destId="{C89CED5A-CE7A-46BC-8E92-A4025B17D39F}" srcOrd="1" destOrd="0" presId="urn:microsoft.com/office/officeart/2005/8/layout/chevronAccent+Icon"/>
    <dgm:cxn modelId="{F7181035-FD75-4B45-9E57-EB7B3CC6DE2A}" type="presParOf" srcId="{4DDDC92B-8D64-4798-B6A7-2512F3E0209E}" destId="{E081EEEB-7492-44C4-813E-D265EC097DA6}" srcOrd="2" destOrd="0" presId="urn:microsoft.com/office/officeart/2005/8/layout/chevronAccent+Icon"/>
    <dgm:cxn modelId="{1D128B42-DC74-4845-A0CD-16DA2318ACB8}" type="presParOf" srcId="{E081EEEB-7492-44C4-813E-D265EC097DA6}" destId="{11D8570D-8F0F-4A21-8798-900BE9E9915D}" srcOrd="0" destOrd="0" presId="urn:microsoft.com/office/officeart/2005/8/layout/chevronAccent+Icon"/>
    <dgm:cxn modelId="{6A29BEAC-E31A-41F0-B8B0-72A5ACB6E328}" type="presParOf" srcId="{E081EEEB-7492-44C4-813E-D265EC097DA6}" destId="{0CA14F7C-DB34-4D9A-A77E-640B2D8ACA01}" srcOrd="1" destOrd="0" presId="urn:microsoft.com/office/officeart/2005/8/layout/chevronAccent+Icon"/>
    <dgm:cxn modelId="{4E802377-DA73-4ED9-BF02-7009B12FCF20}" type="presParOf" srcId="{4DDDC92B-8D64-4798-B6A7-2512F3E0209E}" destId="{2891BAE9-27F8-4881-A4F2-67481CBBAE05}" srcOrd="3" destOrd="0" presId="urn:microsoft.com/office/officeart/2005/8/layout/chevronAccent+Icon"/>
    <dgm:cxn modelId="{F065E010-5C13-41FF-A8FC-94772F2A04D4}" type="presParOf" srcId="{4DDDC92B-8D64-4798-B6A7-2512F3E0209E}" destId="{5C4052AA-DAF8-4799-A7B7-DA7C4AAB9015}" srcOrd="4" destOrd="0" presId="urn:microsoft.com/office/officeart/2005/8/layout/chevronAccent+Icon"/>
    <dgm:cxn modelId="{32FF8B09-CB7E-4792-97D7-2409A9D47328}" type="presParOf" srcId="{5C4052AA-DAF8-4799-A7B7-DA7C4AAB9015}" destId="{7417FEF9-70AC-4795-B23F-20C8457DA97C}" srcOrd="0" destOrd="0" presId="urn:microsoft.com/office/officeart/2005/8/layout/chevronAccent+Icon"/>
    <dgm:cxn modelId="{7CA3DC20-E02E-4B34-9FC4-38412F6E803E}" type="presParOf" srcId="{5C4052AA-DAF8-4799-A7B7-DA7C4AAB9015}" destId="{4774AB85-19E3-4A0F-A24A-531C0235CE08}" srcOrd="1" destOrd="0" presId="urn:microsoft.com/office/officeart/2005/8/layout/chevronAccent+Icon"/>
    <dgm:cxn modelId="{679FDE9B-CAB1-4139-82E3-0A240ECD733F}" type="presParOf" srcId="{4DDDC92B-8D64-4798-B6A7-2512F3E0209E}" destId="{9599E085-1EFB-4DE9-A79A-9F2F9EEDA9C9}" srcOrd="5" destOrd="0" presId="urn:microsoft.com/office/officeart/2005/8/layout/chevronAccent+Icon"/>
    <dgm:cxn modelId="{6A0CADE2-7EA8-4059-99FC-06BC3782BBB9}" type="presParOf" srcId="{4DDDC92B-8D64-4798-B6A7-2512F3E0209E}" destId="{53F3F897-8EDF-4E0D-B2DF-AB537F7D9452}" srcOrd="6" destOrd="0" presId="urn:microsoft.com/office/officeart/2005/8/layout/chevronAccent+Icon"/>
    <dgm:cxn modelId="{5E735788-509D-48FF-BFDE-CE6AF35EB39C}" type="presParOf" srcId="{53F3F897-8EDF-4E0D-B2DF-AB537F7D9452}" destId="{A85673F5-3E8F-46F6-BC82-F74584C1B797}" srcOrd="0" destOrd="0" presId="urn:microsoft.com/office/officeart/2005/8/layout/chevronAccent+Icon"/>
    <dgm:cxn modelId="{8EDCC847-4D7B-471F-985A-85EFF4850820}" type="presParOf" srcId="{53F3F897-8EDF-4E0D-B2DF-AB537F7D9452}" destId="{38C84C5F-1CEE-4EB5-B064-A30A32179267}"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B95AB-9A65-46A0-BAB6-BFE86815E1D4}">
      <dsp:nvSpPr>
        <dsp:cNvPr id="0" name=""/>
        <dsp:cNvSpPr/>
      </dsp:nvSpPr>
      <dsp:spPr>
        <a:xfrm>
          <a:off x="5444" y="749999"/>
          <a:ext cx="2562633" cy="989176"/>
        </a:xfrm>
        <a:prstGeom prst="chevron">
          <a:avLst>
            <a:gd name="adj" fmla="val 40000"/>
          </a:avLst>
        </a:prstGeom>
        <a:solidFill>
          <a:schemeClr val="accent6">
            <a:shade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F5F5266-4E1D-45CB-BE77-5CA0360BDB66}">
      <dsp:nvSpPr>
        <dsp:cNvPr id="0" name=""/>
        <dsp:cNvSpPr/>
      </dsp:nvSpPr>
      <dsp:spPr>
        <a:xfrm>
          <a:off x="688813" y="997293"/>
          <a:ext cx="2164001" cy="989176"/>
        </a:xfrm>
        <a:prstGeom prst="roundRect">
          <a:avLst>
            <a:gd name="adj" fmla="val 10000"/>
          </a:avLst>
        </a:prstGeom>
        <a:solidFill>
          <a:schemeClr val="lt1">
            <a:alpha val="90000"/>
            <a:hueOff val="0"/>
            <a:satOff val="0"/>
            <a:lumOff val="0"/>
            <a:alphaOff val="0"/>
          </a:schemeClr>
        </a:solidFill>
        <a:ln w="6350" cap="flat" cmpd="sng" algn="ctr">
          <a:solidFill>
            <a:schemeClr val="accent6">
              <a:shade val="5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Orders</a:t>
          </a:r>
          <a:r>
            <a:rPr lang="en-US" sz="1200" b="0" kern="1200" dirty="0">
              <a:effectLst>
                <a:outerShdw blurRad="38100" dist="38100" dir="2700000" algn="tl">
                  <a:srgbClr val="000000">
                    <a:alpha val="43137"/>
                  </a:srgbClr>
                </a:outerShdw>
              </a:effectLst>
            </a:rPr>
            <a:t> </a:t>
          </a:r>
        </a:p>
        <a:p>
          <a:pPr marL="0" lvl="0" indent="0" algn="ctr" defTabSz="622300">
            <a:lnSpc>
              <a:spcPct val="90000"/>
            </a:lnSpc>
            <a:spcBef>
              <a:spcPct val="0"/>
            </a:spcBef>
            <a:spcAft>
              <a:spcPct val="35000"/>
            </a:spcAft>
            <a:buNone/>
          </a:pPr>
          <a:r>
            <a:rPr lang="en-US" sz="1200" b="0" kern="1200" dirty="0">
              <a:effectLst>
                <a:outerShdw blurRad="38100" dist="38100" dir="2700000" algn="tl">
                  <a:srgbClr val="000000">
                    <a:alpha val="43137"/>
                  </a:srgbClr>
                </a:outerShdw>
              </a:effectLst>
            </a:rPr>
            <a:t>(order_id, order_date, order_time)</a:t>
          </a:r>
        </a:p>
      </dsp:txBody>
      <dsp:txXfrm>
        <a:off x="717785" y="1026265"/>
        <a:ext cx="2106057" cy="931232"/>
      </dsp:txXfrm>
    </dsp:sp>
    <dsp:sp modelId="{11D8570D-8F0F-4A21-8798-900BE9E9915D}">
      <dsp:nvSpPr>
        <dsp:cNvPr id="0" name=""/>
        <dsp:cNvSpPr/>
      </dsp:nvSpPr>
      <dsp:spPr>
        <a:xfrm>
          <a:off x="2932541" y="749999"/>
          <a:ext cx="2562633" cy="989176"/>
        </a:xfrm>
        <a:prstGeom prst="chevron">
          <a:avLst>
            <a:gd name="adj" fmla="val 40000"/>
          </a:avLst>
        </a:prstGeom>
        <a:solidFill>
          <a:schemeClr val="accent6">
            <a:shade val="50000"/>
            <a:hueOff val="184212"/>
            <a:satOff val="-8053"/>
            <a:lumOff val="2198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0CA14F7C-DB34-4D9A-A77E-640B2D8ACA01}">
      <dsp:nvSpPr>
        <dsp:cNvPr id="0" name=""/>
        <dsp:cNvSpPr/>
      </dsp:nvSpPr>
      <dsp:spPr>
        <a:xfrm>
          <a:off x="3615910" y="997293"/>
          <a:ext cx="2164001" cy="989176"/>
        </a:xfrm>
        <a:prstGeom prst="roundRect">
          <a:avLst>
            <a:gd name="adj" fmla="val 10000"/>
          </a:avLst>
        </a:prstGeom>
        <a:solidFill>
          <a:schemeClr val="lt1">
            <a:alpha val="90000"/>
            <a:hueOff val="0"/>
            <a:satOff val="0"/>
            <a:lumOff val="0"/>
            <a:alphaOff val="0"/>
          </a:schemeClr>
        </a:solidFill>
        <a:ln w="6350" cap="flat" cmpd="sng" algn="ctr">
          <a:solidFill>
            <a:schemeClr val="accent6">
              <a:shade val="50000"/>
              <a:hueOff val="184212"/>
              <a:satOff val="-8053"/>
              <a:lumOff val="21981"/>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Order Details</a:t>
          </a:r>
        </a:p>
        <a:p>
          <a:pPr marL="0" lvl="0" indent="0" algn="ctr" defTabSz="622300">
            <a:lnSpc>
              <a:spcPct val="90000"/>
            </a:lnSpc>
            <a:spcBef>
              <a:spcPct val="0"/>
            </a:spcBef>
            <a:spcAft>
              <a:spcPct val="35000"/>
            </a:spcAft>
            <a:buNone/>
          </a:pPr>
          <a:r>
            <a:rPr lang="en-US" sz="1200" kern="1200" dirty="0">
              <a:effectLst>
                <a:outerShdw blurRad="38100" dist="38100" dir="2700000" algn="tl">
                  <a:srgbClr val="000000">
                    <a:alpha val="43137"/>
                  </a:srgbClr>
                </a:outerShdw>
              </a:effectLst>
            </a:rPr>
            <a:t>(order_details_id, order_id, pizza_id, quantity)    </a:t>
          </a:r>
        </a:p>
      </dsp:txBody>
      <dsp:txXfrm>
        <a:off x="3644882" y="1026265"/>
        <a:ext cx="2106057" cy="931232"/>
      </dsp:txXfrm>
    </dsp:sp>
    <dsp:sp modelId="{7417FEF9-70AC-4795-B23F-20C8457DA97C}">
      <dsp:nvSpPr>
        <dsp:cNvPr id="0" name=""/>
        <dsp:cNvSpPr/>
      </dsp:nvSpPr>
      <dsp:spPr>
        <a:xfrm>
          <a:off x="5859638" y="749999"/>
          <a:ext cx="2562633" cy="989176"/>
        </a:xfrm>
        <a:prstGeom prst="chevron">
          <a:avLst>
            <a:gd name="adj" fmla="val 40000"/>
          </a:avLst>
        </a:prstGeom>
        <a:solidFill>
          <a:schemeClr val="accent6">
            <a:shade val="50000"/>
            <a:hueOff val="368424"/>
            <a:satOff val="-16105"/>
            <a:lumOff val="4396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774AB85-19E3-4A0F-A24A-531C0235CE08}">
      <dsp:nvSpPr>
        <dsp:cNvPr id="0" name=""/>
        <dsp:cNvSpPr/>
      </dsp:nvSpPr>
      <dsp:spPr>
        <a:xfrm>
          <a:off x="6543007" y="997293"/>
          <a:ext cx="2164001" cy="989176"/>
        </a:xfrm>
        <a:prstGeom prst="roundRect">
          <a:avLst>
            <a:gd name="adj" fmla="val 10000"/>
          </a:avLst>
        </a:prstGeom>
        <a:solidFill>
          <a:schemeClr val="lt1">
            <a:alpha val="90000"/>
            <a:hueOff val="0"/>
            <a:satOff val="0"/>
            <a:lumOff val="0"/>
            <a:alphaOff val="0"/>
          </a:schemeClr>
        </a:solidFill>
        <a:ln w="6350" cap="flat" cmpd="sng" algn="ctr">
          <a:solidFill>
            <a:schemeClr val="accent6">
              <a:shade val="50000"/>
              <a:hueOff val="368424"/>
              <a:satOff val="-16105"/>
              <a:lumOff val="43961"/>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Pizzas</a:t>
          </a:r>
          <a:r>
            <a:rPr lang="en-US" sz="1400" kern="1200" dirty="0">
              <a:effectLst>
                <a:outerShdw blurRad="38100" dist="38100" dir="2700000" algn="tl">
                  <a:srgbClr val="000000">
                    <a:alpha val="43137"/>
                  </a:srgbClr>
                </a:outerShdw>
              </a:effectLst>
            </a:rPr>
            <a:t> </a:t>
          </a:r>
        </a:p>
        <a:p>
          <a:pPr marL="0" lvl="0" indent="0" algn="ctr" defTabSz="622300">
            <a:lnSpc>
              <a:spcPct val="90000"/>
            </a:lnSpc>
            <a:spcBef>
              <a:spcPct val="0"/>
            </a:spcBef>
            <a:spcAft>
              <a:spcPct val="35000"/>
            </a:spcAft>
            <a:buNone/>
          </a:pPr>
          <a:r>
            <a:rPr lang="en-US" sz="1300" kern="1200" dirty="0">
              <a:effectLst>
                <a:outerShdw blurRad="38100" dist="38100" dir="2700000" algn="tl">
                  <a:srgbClr val="000000">
                    <a:alpha val="43137"/>
                  </a:srgbClr>
                </a:outerShdw>
              </a:effectLst>
            </a:rPr>
            <a:t>(pizza_id, pizza_type_id, size, price) </a:t>
          </a:r>
        </a:p>
      </dsp:txBody>
      <dsp:txXfrm>
        <a:off x="6571979" y="1026265"/>
        <a:ext cx="2106057" cy="931232"/>
      </dsp:txXfrm>
    </dsp:sp>
    <dsp:sp modelId="{A85673F5-3E8F-46F6-BC82-F74584C1B797}">
      <dsp:nvSpPr>
        <dsp:cNvPr id="0" name=""/>
        <dsp:cNvSpPr/>
      </dsp:nvSpPr>
      <dsp:spPr>
        <a:xfrm>
          <a:off x="8786734" y="749999"/>
          <a:ext cx="2562633" cy="989176"/>
        </a:xfrm>
        <a:prstGeom prst="chevron">
          <a:avLst>
            <a:gd name="adj" fmla="val 40000"/>
          </a:avLst>
        </a:prstGeom>
        <a:solidFill>
          <a:schemeClr val="accent6">
            <a:shade val="50000"/>
            <a:hueOff val="184212"/>
            <a:satOff val="-8053"/>
            <a:lumOff val="2198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8C84C5F-1CEE-4EB5-B064-A30A32179267}">
      <dsp:nvSpPr>
        <dsp:cNvPr id="0" name=""/>
        <dsp:cNvSpPr/>
      </dsp:nvSpPr>
      <dsp:spPr>
        <a:xfrm>
          <a:off x="9470103" y="997293"/>
          <a:ext cx="2164001" cy="989176"/>
        </a:xfrm>
        <a:prstGeom prst="roundRect">
          <a:avLst>
            <a:gd name="adj" fmla="val 10000"/>
          </a:avLst>
        </a:prstGeom>
        <a:solidFill>
          <a:schemeClr val="lt1">
            <a:alpha val="90000"/>
            <a:hueOff val="0"/>
            <a:satOff val="0"/>
            <a:lumOff val="0"/>
            <a:alphaOff val="0"/>
          </a:schemeClr>
        </a:solidFill>
        <a:ln w="6350" cap="flat" cmpd="sng" algn="ctr">
          <a:solidFill>
            <a:schemeClr val="accent6">
              <a:shade val="50000"/>
              <a:hueOff val="184212"/>
              <a:satOff val="-8053"/>
              <a:lumOff val="21981"/>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Pizza Types </a:t>
          </a:r>
        </a:p>
        <a:p>
          <a:pPr marL="0" lvl="0" indent="0" algn="ctr" defTabSz="622300">
            <a:lnSpc>
              <a:spcPct val="90000"/>
            </a:lnSpc>
            <a:spcBef>
              <a:spcPct val="0"/>
            </a:spcBef>
            <a:spcAft>
              <a:spcPct val="35000"/>
            </a:spcAft>
            <a:buNone/>
          </a:pPr>
          <a:r>
            <a:rPr lang="en-US" sz="1300" kern="1200" dirty="0">
              <a:effectLst>
                <a:outerShdw blurRad="38100" dist="38100" dir="2700000" algn="tl">
                  <a:srgbClr val="000000">
                    <a:alpha val="43137"/>
                  </a:srgbClr>
                </a:outerShdw>
              </a:effectLst>
            </a:rPr>
            <a:t>(pizza_type_id, name, category)</a:t>
          </a:r>
        </a:p>
      </dsp:txBody>
      <dsp:txXfrm>
        <a:off x="9499075" y="1026265"/>
        <a:ext cx="2106057" cy="931232"/>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74A32-71D2-80E2-A809-E05F3601C3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3545B4-9470-C7AE-6790-3A36F1A63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A922BE-EAB9-12B5-700F-5843EFDD3B0E}"/>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A7AFF88E-770D-3C76-8EFD-A2BC28174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9B188-FA22-149B-326C-B9D86132ED3B}"/>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1851329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54C33-EF54-D276-915E-CA430692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C044BD-22E6-8F3A-C8F4-D7238123ED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D289D-68D4-82BE-93D4-6084E3293DEF}"/>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9E647E90-A32F-CD60-29B3-EE397123A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F9A5-FDFB-D103-9109-5AA960198EAE}"/>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312615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FCAF2-5000-2A13-D78C-892BE49D12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1E60FF-3B85-6815-88BF-388ABCAA4B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A5DB4C-7DD8-D9B2-C2BE-26B29E263003}"/>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94052B13-0ADE-4072-A597-883814DF5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309D3-0C89-E988-BE4A-0EC357182E5F}"/>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3878140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34C3D-46FF-43F5-C5F9-21C16618F1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5DA819-6D63-0CCB-397D-15B2DB1C5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E16B94-AC1C-1442-ADA5-388A831301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0FA6DB-704F-2B18-D3AF-F2553090D157}"/>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6" name="Footer Placeholder 5">
            <a:extLst>
              <a:ext uri="{FF2B5EF4-FFF2-40B4-BE49-F238E27FC236}">
                <a16:creationId xmlns:a16="http://schemas.microsoft.com/office/drawing/2014/main" id="{5A780BE6-CC8B-7E1F-D2B6-A3B23FC33F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AF3092-6F54-9E9B-8B99-F4E9AE30C11D}"/>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302567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69728-98F4-58C0-2D53-75A9F6C4B3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AD8DE1-A5A2-92C4-43A2-BEFDD5745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E2E23E-76FB-96A4-DFDF-5C7B76D0F3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5F92E1-84BE-50B1-A52C-D5A492A2AC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E07EF-844A-0AAE-2D48-17CB540941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836663-2AA3-D804-0305-F273A499AD49}"/>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8" name="Footer Placeholder 7">
            <a:extLst>
              <a:ext uri="{FF2B5EF4-FFF2-40B4-BE49-F238E27FC236}">
                <a16:creationId xmlns:a16="http://schemas.microsoft.com/office/drawing/2014/main" id="{DADD78AD-30C7-08ED-1C18-9124402309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41D9FE-7C54-C48B-DB94-9099A98E6B17}"/>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479091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A158A-46AA-B776-4088-A95BAE5AE4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439196-ADE9-C07D-B378-84F29B742F18}"/>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4" name="Footer Placeholder 3">
            <a:extLst>
              <a:ext uri="{FF2B5EF4-FFF2-40B4-BE49-F238E27FC236}">
                <a16:creationId xmlns:a16="http://schemas.microsoft.com/office/drawing/2014/main" id="{0BC3A3A2-C84C-3CBD-EF3A-123BA720D2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ABF6C4-B129-417E-F4CB-49E99D637E53}"/>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2907772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CC9620-353D-78CF-E49A-0F8AC0DB03AB}"/>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3" name="Footer Placeholder 2">
            <a:extLst>
              <a:ext uri="{FF2B5EF4-FFF2-40B4-BE49-F238E27FC236}">
                <a16:creationId xmlns:a16="http://schemas.microsoft.com/office/drawing/2014/main" id="{9F56E77B-7B84-09F9-44DA-2AED88A785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B53098-F0A7-52D7-1BA7-F8B87FEEF76A}"/>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175305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D8236-6147-45B4-2087-B1C83432BB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7A5E33-70DD-6E86-5529-BE4E0DF7F9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7B9041-4EB9-C040-FC63-B4C047039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651819-2BD4-C011-7575-5D503389F1DC}"/>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6" name="Footer Placeholder 5">
            <a:extLst>
              <a:ext uri="{FF2B5EF4-FFF2-40B4-BE49-F238E27FC236}">
                <a16:creationId xmlns:a16="http://schemas.microsoft.com/office/drawing/2014/main" id="{6CF14838-BE33-D727-9043-842A6DCC85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AA47D-EAC0-4D7C-7B36-EB91557CEF32}"/>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12828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5B97F-5454-8255-C962-457F32B88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6C44B6-A306-2503-E3AE-2DBFD1E7C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E02C91-1A49-5AB0-645B-3A76CBE29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D0384-A6EB-1044-7D65-C6890C03FAD6}"/>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6" name="Footer Placeholder 5">
            <a:extLst>
              <a:ext uri="{FF2B5EF4-FFF2-40B4-BE49-F238E27FC236}">
                <a16:creationId xmlns:a16="http://schemas.microsoft.com/office/drawing/2014/main" id="{5A5D32B6-D8C2-9603-A2BE-41A80EBDFC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EE9800-CA40-042B-C11F-5E26E785DBE6}"/>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4163882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082BF-1B78-69BC-B391-7BD3CE19F2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50007D-BA91-0C36-AA6E-4B7D482DE8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6D71C-9E17-66C5-0940-866DCB68F555}"/>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65BF56DE-3206-2FF8-9036-D2B145EA3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8B471-A314-FCA1-0352-10A9F79575A5}"/>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1070403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9FAB37-A939-F250-580D-37CBD239AC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6542B6-6B54-A92D-C5BD-F04F94E3C3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039EA-4AC7-A0BC-6BDA-2E9056ED3AB9}"/>
              </a:ext>
            </a:extLst>
          </p:cNvPr>
          <p:cNvSpPr>
            <a:spLocks noGrp="1"/>
          </p:cNvSpPr>
          <p:nvPr>
            <p:ph type="dt" sz="half" idx="10"/>
          </p:nvPr>
        </p:nvSpPr>
        <p:spPr/>
        <p:txBody>
          <a:body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949C6A8A-0B33-9066-9BB8-0F0719762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F7BA5E-EBC6-EBAF-9D6A-A41338F8353B}"/>
              </a:ext>
            </a:extLst>
          </p:cNvPr>
          <p:cNvSpPr>
            <a:spLocks noGrp="1"/>
          </p:cNvSpPr>
          <p:nvPr>
            <p:ph type="sldNum" sz="quarter" idx="12"/>
          </p:nvPr>
        </p:nvSpPr>
        <p:spPr/>
        <p:txBody>
          <a:bodyPr/>
          <a:lstStyle/>
          <a:p>
            <a:fld id="{0742EA8E-B928-4AAC-866F-398251A6CB91}" type="slidenum">
              <a:rPr lang="en-US" smtClean="0"/>
              <a:t>‹#›</a:t>
            </a:fld>
            <a:endParaRPr lang="en-US"/>
          </a:p>
        </p:txBody>
      </p:sp>
    </p:spTree>
    <p:extLst>
      <p:ext uri="{BB962C8B-B14F-4D97-AF65-F5344CB8AC3E}">
        <p14:creationId xmlns:p14="http://schemas.microsoft.com/office/powerpoint/2010/main" val="3311711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32195F-866E-17B1-A64A-5BF510017C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743363-4183-B258-1100-DD06DA5F87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500823-9775-EDF0-C991-6D79881432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71C360-3D76-421F-B951-1FE74304FA0B}" type="datetimeFigureOut">
              <a:rPr lang="en-US" smtClean="0"/>
              <a:t>6/25/2026</a:t>
            </a:fld>
            <a:endParaRPr lang="en-US"/>
          </a:p>
        </p:txBody>
      </p:sp>
      <p:sp>
        <p:nvSpPr>
          <p:cNvPr id="5" name="Footer Placeholder 4">
            <a:extLst>
              <a:ext uri="{FF2B5EF4-FFF2-40B4-BE49-F238E27FC236}">
                <a16:creationId xmlns:a16="http://schemas.microsoft.com/office/drawing/2014/main" id="{33AFF76C-DB4E-E6D5-A415-83D88A13A7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99F951-6A21-3D33-EA98-1DA1B94FC8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42EA8E-B928-4AAC-866F-398251A6CB91}" type="slidenum">
              <a:rPr lang="en-US" smtClean="0"/>
              <a:t>‹#›</a:t>
            </a:fld>
            <a:endParaRPr lang="en-US"/>
          </a:p>
        </p:txBody>
      </p:sp>
    </p:spTree>
    <p:extLst>
      <p:ext uri="{BB962C8B-B14F-4D97-AF65-F5344CB8AC3E}">
        <p14:creationId xmlns:p14="http://schemas.microsoft.com/office/powerpoint/2010/main" val="1719932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1.xml"/><Relationship Id="rId7" Type="http://schemas.openxmlformats.org/officeDocument/2006/relationships/image" Target="../media/image1.sv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9.svg"/><Relationship Id="rId2" Type="http://schemas.openxmlformats.org/officeDocument/2006/relationships/chart" Target="../charts/chart1.xml"/><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FC249-71F6-8BB2-57AD-F20B8807DFCE}"/>
              </a:ext>
            </a:extLst>
          </p:cNvPr>
          <p:cNvSpPr>
            <a:spLocks noGrp="1"/>
          </p:cNvSpPr>
          <p:nvPr>
            <p:ph type="ctrTitle"/>
          </p:nvPr>
        </p:nvSpPr>
        <p:spPr>
          <a:xfrm>
            <a:off x="276224" y="950330"/>
            <a:ext cx="11639551" cy="594680"/>
          </a:xfrm>
          <a:solidFill>
            <a:schemeClr val="accent6">
              <a:lumMod val="60000"/>
              <a:lumOff val="40000"/>
            </a:schemeClr>
          </a:solidFill>
        </p:spPr>
        <p:txBody>
          <a:bodyPr>
            <a:noAutofit/>
          </a:bodyPr>
          <a:lstStyle/>
          <a:p>
            <a:r>
              <a:rPr lang="en-US" sz="3200" b="1" dirty="0">
                <a:effectLst>
                  <a:outerShdw blurRad="38100" dist="38100" dir="2700000" algn="tl">
                    <a:srgbClr val="000000">
                      <a:alpha val="43137"/>
                    </a:srgbClr>
                  </a:outerShdw>
                </a:effectLst>
                <a:latin typeface="+mn-lt"/>
                <a:cs typeface="Arial" panose="020B0604020202020204" pitchFamily="34" charset="0"/>
              </a:rPr>
              <a:t>PIZZA SALES ANALYSIS USING SQL</a:t>
            </a:r>
          </a:p>
        </p:txBody>
      </p:sp>
      <p:sp>
        <p:nvSpPr>
          <p:cNvPr id="3" name="Subtitle 2">
            <a:extLst>
              <a:ext uri="{FF2B5EF4-FFF2-40B4-BE49-F238E27FC236}">
                <a16:creationId xmlns:a16="http://schemas.microsoft.com/office/drawing/2014/main" id="{98DED6CB-7B34-11EB-CF20-ACB1FD0CFCE0}"/>
              </a:ext>
            </a:extLst>
          </p:cNvPr>
          <p:cNvSpPr>
            <a:spLocks noGrp="1"/>
          </p:cNvSpPr>
          <p:nvPr>
            <p:ph type="subTitle" idx="1"/>
          </p:nvPr>
        </p:nvSpPr>
        <p:spPr>
          <a:xfrm>
            <a:off x="6372221" y="1905026"/>
            <a:ext cx="5543547" cy="2708434"/>
          </a:xfrm>
          <a:solidFill>
            <a:schemeClr val="accent6">
              <a:lumMod val="20000"/>
              <a:lumOff val="80000"/>
            </a:schemeClr>
          </a:solidFill>
        </p:spPr>
        <p:txBody>
          <a:bodyPr>
            <a:normAutofit fontScale="92500" lnSpcReduction="10000"/>
          </a:bodyPr>
          <a:lstStyle/>
          <a:p>
            <a:pPr algn="l"/>
            <a:endParaRPr lang="en-US" sz="4000" b="1" dirty="0">
              <a:effectLst>
                <a:outerShdw blurRad="38100" dist="38100" dir="2700000" algn="tl">
                  <a:srgbClr val="000000">
                    <a:alpha val="43137"/>
                  </a:srgbClr>
                </a:outerShdw>
              </a:effectLst>
            </a:endParaRPr>
          </a:p>
          <a:p>
            <a:pPr algn="l"/>
            <a:endParaRPr lang="en-US" sz="4000" b="1" dirty="0">
              <a:effectLst>
                <a:outerShdw blurRad="38100" dist="38100" dir="2700000" algn="tl">
                  <a:srgbClr val="000000">
                    <a:alpha val="43137"/>
                  </a:srgbClr>
                </a:outerShdw>
              </a:effectLst>
            </a:endParaRPr>
          </a:p>
          <a:p>
            <a:pPr algn="l">
              <a:lnSpc>
                <a:spcPct val="20000"/>
              </a:lnSpc>
            </a:pPr>
            <a:endParaRPr lang="en-US" sz="4000" b="1" dirty="0">
              <a:effectLst>
                <a:outerShdw blurRad="38100" dist="38100" dir="2700000" algn="tl">
                  <a:srgbClr val="000000">
                    <a:alpha val="43137"/>
                  </a:srgbClr>
                </a:outerShdw>
              </a:effectLst>
            </a:endParaRPr>
          </a:p>
          <a:p>
            <a:pPr algn="l">
              <a:lnSpc>
                <a:spcPct val="20000"/>
              </a:lnSpc>
            </a:pPr>
            <a:endParaRPr lang="en-US" sz="4000" b="1" dirty="0">
              <a:effectLst>
                <a:outerShdw blurRad="38100" dist="38100" dir="2700000" algn="tl">
                  <a:srgbClr val="000000">
                    <a:alpha val="43137"/>
                  </a:srgbClr>
                </a:outerShdw>
              </a:effectLst>
            </a:endParaRPr>
          </a:p>
          <a:p>
            <a:pPr marL="342900" indent="-342900" algn="l">
              <a:buFont typeface="Arial" panose="020B0604020202020204" pitchFamily="34" charset="0"/>
              <a:buChar char="•"/>
            </a:pPr>
            <a:r>
              <a:rPr lang="en-US" sz="1900" dirty="0"/>
              <a:t>4 relational tables linked using SQL JOINs</a:t>
            </a:r>
          </a:p>
          <a:p>
            <a:pPr marL="342900" indent="-342900" algn="l">
              <a:buFont typeface="Arial" panose="020B0604020202020204" pitchFamily="34" charset="0"/>
              <a:buChar char="•"/>
            </a:pPr>
            <a:r>
              <a:rPr lang="en-US" sz="1900" dirty="0"/>
              <a:t>21,350 customer orders analysed</a:t>
            </a:r>
          </a:p>
          <a:p>
            <a:pPr marL="342900" indent="-342900" algn="l">
              <a:buFont typeface="Arial" panose="020B0604020202020204" pitchFamily="34" charset="0"/>
              <a:buChar char="•"/>
            </a:pPr>
            <a:r>
              <a:rPr lang="en-US" sz="1900" dirty="0"/>
              <a:t>Sales, category, size, and pricing data examined.</a:t>
            </a:r>
          </a:p>
        </p:txBody>
      </p:sp>
      <p:graphicFrame>
        <p:nvGraphicFramePr>
          <p:cNvPr id="4" name="Diagram 3">
            <a:extLst>
              <a:ext uri="{FF2B5EF4-FFF2-40B4-BE49-F238E27FC236}">
                <a16:creationId xmlns:a16="http://schemas.microsoft.com/office/drawing/2014/main" id="{7DE7917E-02D5-39B6-B21A-31E0203B555A}"/>
              </a:ext>
            </a:extLst>
          </p:cNvPr>
          <p:cNvGraphicFramePr/>
          <p:nvPr>
            <p:extLst>
              <p:ext uri="{D42A27DB-BD31-4B8C-83A1-F6EECF244321}">
                <p14:modId xmlns:p14="http://schemas.microsoft.com/office/powerpoint/2010/main" val="3891774518"/>
              </p:ext>
            </p:extLst>
          </p:nvPr>
        </p:nvGraphicFramePr>
        <p:xfrm>
          <a:off x="276225" y="4539745"/>
          <a:ext cx="11639550" cy="2736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a:extLst>
              <a:ext uri="{FF2B5EF4-FFF2-40B4-BE49-F238E27FC236}">
                <a16:creationId xmlns:a16="http://schemas.microsoft.com/office/drawing/2014/main" id="{0CABF521-03D3-741A-7CE4-BED6ED1DE9E0}"/>
              </a:ext>
            </a:extLst>
          </p:cNvPr>
          <p:cNvCxnSpPr/>
          <p:nvPr/>
        </p:nvCxnSpPr>
        <p:spPr>
          <a:xfrm>
            <a:off x="0" y="800481"/>
            <a:ext cx="12192000" cy="0"/>
          </a:xfrm>
          <a:prstGeom prst="line">
            <a:avLst/>
          </a:prstGeom>
          <a:ln>
            <a:solidFill>
              <a:schemeClr val="accent6">
                <a:lumMod val="75000"/>
              </a:schemeClr>
            </a:solidFill>
          </a:ln>
        </p:spPr>
        <p:style>
          <a:lnRef idx="3">
            <a:schemeClr val="accent6"/>
          </a:lnRef>
          <a:fillRef idx="0">
            <a:schemeClr val="accent6"/>
          </a:fillRef>
          <a:effectRef idx="2">
            <a:schemeClr val="accent6"/>
          </a:effectRef>
          <a:fontRef idx="minor">
            <a:schemeClr val="tx1"/>
          </a:fontRef>
        </p:style>
      </p:cxnSp>
      <p:sp>
        <p:nvSpPr>
          <p:cNvPr id="7" name="TextBox 6">
            <a:extLst>
              <a:ext uri="{FF2B5EF4-FFF2-40B4-BE49-F238E27FC236}">
                <a16:creationId xmlns:a16="http://schemas.microsoft.com/office/drawing/2014/main" id="{F42EDFAB-BB17-F5AF-DDB7-E596C12CB677}"/>
              </a:ext>
            </a:extLst>
          </p:cNvPr>
          <p:cNvSpPr txBox="1"/>
          <p:nvPr/>
        </p:nvSpPr>
        <p:spPr>
          <a:xfrm>
            <a:off x="142875" y="85725"/>
            <a:ext cx="6915150" cy="584775"/>
          </a:xfrm>
          <a:prstGeom prst="rect">
            <a:avLst/>
          </a:prstGeom>
          <a:noFill/>
        </p:spPr>
        <p:txBody>
          <a:bodyPr wrap="square" rtlCol="0">
            <a:spAutoFit/>
          </a:bodyPr>
          <a:lstStyle/>
          <a:p>
            <a:r>
              <a:rPr lang="en-US" sz="3200" b="1" dirty="0">
                <a:solidFill>
                  <a:schemeClr val="accent6">
                    <a:lumMod val="50000"/>
                  </a:schemeClr>
                </a:solidFill>
                <a:effectLst>
                  <a:outerShdw blurRad="38100" dist="38100" dir="2700000" algn="tl">
                    <a:srgbClr val="000000">
                      <a:alpha val="43137"/>
                    </a:srgbClr>
                  </a:outerShdw>
                </a:effectLst>
              </a:rPr>
              <a:t>Project Overview &amp; Database Structure</a:t>
            </a:r>
          </a:p>
        </p:txBody>
      </p:sp>
      <p:sp>
        <p:nvSpPr>
          <p:cNvPr id="8" name="TextBox 7">
            <a:extLst>
              <a:ext uri="{FF2B5EF4-FFF2-40B4-BE49-F238E27FC236}">
                <a16:creationId xmlns:a16="http://schemas.microsoft.com/office/drawing/2014/main" id="{2D7A8580-A9C2-5F4E-FF20-EEF9FA2445F9}"/>
              </a:ext>
            </a:extLst>
          </p:cNvPr>
          <p:cNvSpPr txBox="1"/>
          <p:nvPr/>
        </p:nvSpPr>
        <p:spPr>
          <a:xfrm>
            <a:off x="276220" y="1905026"/>
            <a:ext cx="5543552" cy="2708434"/>
          </a:xfrm>
          <a:prstGeom prst="rect">
            <a:avLst/>
          </a:prstGeom>
          <a:solidFill>
            <a:schemeClr val="accent6">
              <a:lumMod val="20000"/>
              <a:lumOff val="80000"/>
            </a:schemeClr>
          </a:solidFill>
        </p:spPr>
        <p:txBody>
          <a:bodyPr wrap="square" rtlCol="0">
            <a:spAutoFit/>
          </a:bodyPr>
          <a:lstStyle/>
          <a:p>
            <a:endParaRPr lang="en-US" sz="2000" b="1" dirty="0">
              <a:effectLst>
                <a:outerShdw blurRad="38100" dist="38100" dir="2700000" algn="tl">
                  <a:srgbClr val="000000">
                    <a:alpha val="43137"/>
                  </a:srgbClr>
                </a:outerShdw>
              </a:effectLst>
            </a:endParaRPr>
          </a:p>
          <a:p>
            <a:endParaRPr lang="en-US" sz="2000" b="1" dirty="0">
              <a:effectLst>
                <a:outerShdw blurRad="38100" dist="38100" dir="2700000" algn="tl">
                  <a:srgbClr val="000000">
                    <a:alpha val="43137"/>
                  </a:srgbClr>
                </a:outerShdw>
              </a:effectLst>
            </a:endParaRPr>
          </a:p>
          <a:p>
            <a:endParaRPr lang="en-US" sz="2000" b="1" dirty="0">
              <a:effectLst>
                <a:outerShdw blurRad="38100" dist="38100" dir="2700000" algn="tl">
                  <a:srgbClr val="000000">
                    <a:alpha val="43137"/>
                  </a:srgbClr>
                </a:outerShdw>
              </a:effectLst>
            </a:endParaRPr>
          </a:p>
          <a:p>
            <a:endParaRPr lang="en-US" sz="2000" b="1" dirty="0">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dirty="0"/>
              <a:t>Analyse pizza sales data to understand customer preferences and sales performance.</a:t>
            </a:r>
          </a:p>
          <a:p>
            <a:pPr marL="342900" indent="-342900">
              <a:buFont typeface="Arial" panose="020B0604020202020204" pitchFamily="34" charset="0"/>
              <a:buChar char="•"/>
            </a:pPr>
            <a:r>
              <a:rPr lang="en-US" dirty="0"/>
              <a:t>Identify top-selling pizzas, revenue trends, and category performance.</a:t>
            </a:r>
          </a:p>
          <a:p>
            <a:endParaRPr lang="en-US" dirty="0"/>
          </a:p>
        </p:txBody>
      </p:sp>
      <p:cxnSp>
        <p:nvCxnSpPr>
          <p:cNvPr id="10" name="Straight Connector 9">
            <a:extLst>
              <a:ext uri="{FF2B5EF4-FFF2-40B4-BE49-F238E27FC236}">
                <a16:creationId xmlns:a16="http://schemas.microsoft.com/office/drawing/2014/main" id="{777D8931-F9B4-5115-18F1-3F3A48CDCF32}"/>
              </a:ext>
            </a:extLst>
          </p:cNvPr>
          <p:cNvCxnSpPr/>
          <p:nvPr/>
        </p:nvCxnSpPr>
        <p:spPr>
          <a:xfrm>
            <a:off x="0" y="1704975"/>
            <a:ext cx="1219200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 name="Graphic 11" descr="Target Audience with solid fill">
            <a:extLst>
              <a:ext uri="{FF2B5EF4-FFF2-40B4-BE49-F238E27FC236}">
                <a16:creationId xmlns:a16="http://schemas.microsoft.com/office/drawing/2014/main" id="{4202E636-D9B2-D6C7-6D5D-56E5AE2C68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90797" y="2305136"/>
            <a:ext cx="914400" cy="914400"/>
          </a:xfrm>
          <a:prstGeom prst="rect">
            <a:avLst/>
          </a:prstGeom>
        </p:spPr>
      </p:pic>
      <p:pic>
        <p:nvPicPr>
          <p:cNvPr id="14" name="Graphic 13" descr="Person with idea with solid fill">
            <a:extLst>
              <a:ext uri="{FF2B5EF4-FFF2-40B4-BE49-F238E27FC236}">
                <a16:creationId xmlns:a16="http://schemas.microsoft.com/office/drawing/2014/main" id="{B2B071F1-33FF-7689-9D17-E9E01CC967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86800" y="2365080"/>
            <a:ext cx="914400" cy="914400"/>
          </a:xfrm>
          <a:prstGeom prst="rect">
            <a:avLst/>
          </a:prstGeom>
        </p:spPr>
      </p:pic>
      <p:cxnSp>
        <p:nvCxnSpPr>
          <p:cNvPr id="18" name="Straight Connector 17">
            <a:extLst>
              <a:ext uri="{FF2B5EF4-FFF2-40B4-BE49-F238E27FC236}">
                <a16:creationId xmlns:a16="http://schemas.microsoft.com/office/drawing/2014/main" id="{5B3CD237-038A-F316-6149-525D0199682F}"/>
              </a:ext>
            </a:extLst>
          </p:cNvPr>
          <p:cNvCxnSpPr>
            <a:cxnSpLocks/>
          </p:cNvCxnSpPr>
          <p:nvPr/>
        </p:nvCxnSpPr>
        <p:spPr>
          <a:xfrm>
            <a:off x="6096000" y="1704975"/>
            <a:ext cx="0" cy="3133725"/>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537B1778-CDFB-D300-EFBD-3FC492B88F2D}"/>
              </a:ext>
            </a:extLst>
          </p:cNvPr>
          <p:cNvCxnSpPr/>
          <p:nvPr/>
        </p:nvCxnSpPr>
        <p:spPr>
          <a:xfrm>
            <a:off x="0" y="4838700"/>
            <a:ext cx="1219200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DC7A370D-F33A-7670-9A31-7EFEE91263CA}"/>
              </a:ext>
            </a:extLst>
          </p:cNvPr>
          <p:cNvSpPr txBox="1"/>
          <p:nvPr/>
        </p:nvSpPr>
        <p:spPr>
          <a:xfrm>
            <a:off x="276226" y="1905026"/>
            <a:ext cx="5543542" cy="400110"/>
          </a:xfrm>
          <a:prstGeom prst="rect">
            <a:avLst/>
          </a:prstGeom>
          <a:solidFill>
            <a:schemeClr val="accent6">
              <a:lumMod val="60000"/>
              <a:lumOff val="40000"/>
            </a:schemeClr>
          </a:solidFill>
        </p:spPr>
        <p:txBody>
          <a:bodyPr wrap="square" rtlCol="0">
            <a:spAutoFit/>
          </a:bodyPr>
          <a:lstStyle/>
          <a:p>
            <a:pPr algn="ctr"/>
            <a:r>
              <a:rPr lang="en-US" sz="2000" b="1" dirty="0">
                <a:effectLst>
                  <a:outerShdw blurRad="38100" dist="38100" dir="2700000" algn="tl">
                    <a:srgbClr val="000000">
                      <a:alpha val="43137"/>
                    </a:srgbClr>
                  </a:outerShdw>
                </a:effectLst>
              </a:rPr>
              <a:t>OBJECTIVE</a:t>
            </a:r>
          </a:p>
        </p:txBody>
      </p:sp>
      <p:sp>
        <p:nvSpPr>
          <p:cNvPr id="25" name="TextBox 24">
            <a:extLst>
              <a:ext uri="{FF2B5EF4-FFF2-40B4-BE49-F238E27FC236}">
                <a16:creationId xmlns:a16="http://schemas.microsoft.com/office/drawing/2014/main" id="{F1CDC92D-F5D4-F853-D6AA-BA0F756DAA8E}"/>
              </a:ext>
            </a:extLst>
          </p:cNvPr>
          <p:cNvSpPr txBox="1"/>
          <p:nvPr/>
        </p:nvSpPr>
        <p:spPr>
          <a:xfrm>
            <a:off x="6372214" y="1905026"/>
            <a:ext cx="5543547" cy="400110"/>
          </a:xfrm>
          <a:prstGeom prst="rect">
            <a:avLst/>
          </a:prstGeom>
          <a:solidFill>
            <a:schemeClr val="accent6">
              <a:lumMod val="60000"/>
              <a:lumOff val="40000"/>
            </a:schemeClr>
          </a:solidFill>
        </p:spPr>
        <p:txBody>
          <a:bodyPr wrap="square" rtlCol="0">
            <a:spAutoFit/>
          </a:bodyPr>
          <a:lstStyle/>
          <a:p>
            <a:pPr algn="ctr"/>
            <a:r>
              <a:rPr lang="en-US" sz="2000" b="1" dirty="0">
                <a:effectLst>
                  <a:outerShdw blurRad="38100" dist="38100" dir="2700000" algn="tl">
                    <a:srgbClr val="000000">
                      <a:alpha val="43137"/>
                    </a:srgbClr>
                  </a:outerShdw>
                </a:effectLst>
              </a:rPr>
              <a:t>DATASET OVERVIEW</a:t>
            </a:r>
          </a:p>
        </p:txBody>
      </p:sp>
    </p:spTree>
    <p:extLst>
      <p:ext uri="{BB962C8B-B14F-4D97-AF65-F5344CB8AC3E}">
        <p14:creationId xmlns:p14="http://schemas.microsoft.com/office/powerpoint/2010/main" val="1402264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CF1065-4E3C-B5F2-51AC-106AE2744BB7}"/>
              </a:ext>
            </a:extLst>
          </p:cNvPr>
          <p:cNvSpPr>
            <a:spLocks noGrp="1"/>
          </p:cNvSpPr>
          <p:nvPr>
            <p:ph sz="half" idx="1"/>
          </p:nvPr>
        </p:nvSpPr>
        <p:spPr>
          <a:xfrm>
            <a:off x="241935" y="1076144"/>
            <a:ext cx="5612130" cy="2487836"/>
          </a:xfrm>
          <a:solidFill>
            <a:schemeClr val="accent6">
              <a:lumMod val="20000"/>
              <a:lumOff val="80000"/>
            </a:schemeClr>
          </a:solidFill>
        </p:spPr>
        <p:txBody>
          <a:bodyPr>
            <a:normAutofit fontScale="92500" lnSpcReduction="10000"/>
          </a:bodyPr>
          <a:lstStyle/>
          <a:p>
            <a:pPr marL="0" indent="0">
              <a:buNone/>
            </a:pPr>
            <a:r>
              <a:rPr lang="en-US" sz="2600" b="1" dirty="0">
                <a:effectLst>
                  <a:outerShdw blurRad="38100" dist="38100" dir="2700000" algn="tl">
                    <a:srgbClr val="000000">
                      <a:alpha val="43137"/>
                    </a:srgbClr>
                  </a:outerShdw>
                </a:effectLst>
              </a:rPr>
              <a:t>SQL concepts used</a:t>
            </a:r>
          </a:p>
          <a:p>
            <a:pPr>
              <a:lnSpc>
                <a:spcPct val="100000"/>
              </a:lnSpc>
            </a:pPr>
            <a:r>
              <a:rPr lang="en-US" sz="2200" dirty="0"/>
              <a:t>Data extraction using SELECT statements</a:t>
            </a:r>
          </a:p>
          <a:p>
            <a:pPr>
              <a:lnSpc>
                <a:spcPct val="100000"/>
              </a:lnSpc>
            </a:pPr>
            <a:r>
              <a:rPr lang="en-US" sz="2200" dirty="0"/>
              <a:t>Table relationships using JOINs</a:t>
            </a:r>
          </a:p>
          <a:p>
            <a:pPr>
              <a:lnSpc>
                <a:spcPct val="100000"/>
              </a:lnSpc>
            </a:pPr>
            <a:r>
              <a:rPr lang="en-US" sz="2200" dirty="0"/>
              <a:t>Data summarization using aggregate functions </a:t>
            </a:r>
          </a:p>
          <a:p>
            <a:pPr>
              <a:lnSpc>
                <a:spcPct val="100000"/>
              </a:lnSpc>
            </a:pPr>
            <a:r>
              <a:rPr lang="en-US" sz="2200" dirty="0"/>
              <a:t>Business reporting using GROUP BY</a:t>
            </a:r>
          </a:p>
          <a:p>
            <a:pPr>
              <a:lnSpc>
                <a:spcPct val="100000"/>
              </a:lnSpc>
            </a:pPr>
            <a:r>
              <a:rPr lang="en-US" sz="2200" dirty="0"/>
              <a:t>Sorting and ranking results using ORDER BY</a:t>
            </a:r>
          </a:p>
          <a:p>
            <a:pPr marL="0" indent="0">
              <a:buNone/>
            </a:pPr>
            <a:endParaRPr lang="en-US" dirty="0"/>
          </a:p>
        </p:txBody>
      </p:sp>
      <p:pic>
        <p:nvPicPr>
          <p:cNvPr id="10" name="Picture 9">
            <a:extLst>
              <a:ext uri="{FF2B5EF4-FFF2-40B4-BE49-F238E27FC236}">
                <a16:creationId xmlns:a16="http://schemas.microsoft.com/office/drawing/2014/main" id="{86005F6C-5EB4-1553-CD54-370F7677F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3175" y="1329482"/>
            <a:ext cx="1031558" cy="618935"/>
          </a:xfrm>
          <a:prstGeom prst="rect">
            <a:avLst/>
          </a:prstGeom>
        </p:spPr>
      </p:pic>
      <p:pic>
        <p:nvPicPr>
          <p:cNvPr id="14" name="Picture 13">
            <a:extLst>
              <a:ext uri="{FF2B5EF4-FFF2-40B4-BE49-F238E27FC236}">
                <a16:creationId xmlns:a16="http://schemas.microsoft.com/office/drawing/2014/main" id="{C012D398-53AE-36A1-385A-FF3608262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175" y="2526473"/>
            <a:ext cx="2571088" cy="1247925"/>
          </a:xfrm>
          <a:prstGeom prst="rect">
            <a:avLst/>
          </a:prstGeom>
        </p:spPr>
      </p:pic>
      <p:pic>
        <p:nvPicPr>
          <p:cNvPr id="18" name="Picture 17">
            <a:extLst>
              <a:ext uri="{FF2B5EF4-FFF2-40B4-BE49-F238E27FC236}">
                <a16:creationId xmlns:a16="http://schemas.microsoft.com/office/drawing/2014/main" id="{6E0FCA1B-BC15-30FA-74A3-F78D54D84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3175" y="4319089"/>
            <a:ext cx="3267075" cy="2378113"/>
          </a:xfrm>
          <a:prstGeom prst="rect">
            <a:avLst/>
          </a:prstGeom>
        </p:spPr>
      </p:pic>
      <p:cxnSp>
        <p:nvCxnSpPr>
          <p:cNvPr id="26" name="Straight Connector 25">
            <a:extLst>
              <a:ext uri="{FF2B5EF4-FFF2-40B4-BE49-F238E27FC236}">
                <a16:creationId xmlns:a16="http://schemas.microsoft.com/office/drawing/2014/main" id="{B835E8E5-5211-731A-3141-85DA48DD2C27}"/>
              </a:ext>
            </a:extLst>
          </p:cNvPr>
          <p:cNvCxnSpPr/>
          <p:nvPr/>
        </p:nvCxnSpPr>
        <p:spPr>
          <a:xfrm>
            <a:off x="0" y="808665"/>
            <a:ext cx="12192000" cy="0"/>
          </a:xfrm>
          <a:prstGeom prst="line">
            <a:avLst/>
          </a:prstGeom>
          <a:ln>
            <a:solidFill>
              <a:schemeClr val="accent6">
                <a:lumMod val="75000"/>
              </a:schemeClr>
            </a:solidFill>
          </a:ln>
        </p:spPr>
        <p:style>
          <a:lnRef idx="3">
            <a:schemeClr val="accent6"/>
          </a:lnRef>
          <a:fillRef idx="0">
            <a:schemeClr val="accent6"/>
          </a:fillRef>
          <a:effectRef idx="2">
            <a:schemeClr val="accent6"/>
          </a:effectRef>
          <a:fontRef idx="minor">
            <a:schemeClr val="tx1"/>
          </a:fontRef>
        </p:style>
      </p:cxnSp>
      <p:sp>
        <p:nvSpPr>
          <p:cNvPr id="27" name="TextBox 26">
            <a:extLst>
              <a:ext uri="{FF2B5EF4-FFF2-40B4-BE49-F238E27FC236}">
                <a16:creationId xmlns:a16="http://schemas.microsoft.com/office/drawing/2014/main" id="{FEB3F375-5903-433B-F86B-079590487EFF}"/>
              </a:ext>
            </a:extLst>
          </p:cNvPr>
          <p:cNvSpPr txBox="1"/>
          <p:nvPr/>
        </p:nvSpPr>
        <p:spPr>
          <a:xfrm>
            <a:off x="136208" y="95250"/>
            <a:ext cx="8188642" cy="584775"/>
          </a:xfrm>
          <a:prstGeom prst="rect">
            <a:avLst/>
          </a:prstGeom>
          <a:noFill/>
        </p:spPr>
        <p:txBody>
          <a:bodyPr wrap="square" rtlCol="0">
            <a:spAutoFit/>
          </a:bodyPr>
          <a:lstStyle/>
          <a:p>
            <a:r>
              <a:rPr lang="en-US" sz="3200" b="1" dirty="0">
                <a:solidFill>
                  <a:schemeClr val="accent6">
                    <a:lumMod val="50000"/>
                  </a:schemeClr>
                </a:solidFill>
                <a:effectLst>
                  <a:outerShdw blurRad="38100" dist="38100" dir="2700000" algn="tl">
                    <a:srgbClr val="000000">
                      <a:alpha val="43137"/>
                    </a:srgbClr>
                  </a:outerShdw>
                </a:effectLst>
              </a:rPr>
              <a:t>SQL Analysis &amp; Methodology</a:t>
            </a:r>
          </a:p>
        </p:txBody>
      </p:sp>
      <p:sp>
        <p:nvSpPr>
          <p:cNvPr id="28" name="TextBox 27">
            <a:extLst>
              <a:ext uri="{FF2B5EF4-FFF2-40B4-BE49-F238E27FC236}">
                <a16:creationId xmlns:a16="http://schemas.microsoft.com/office/drawing/2014/main" id="{DCCD480D-3A58-172C-2639-C6518A38E2F3}"/>
              </a:ext>
            </a:extLst>
          </p:cNvPr>
          <p:cNvSpPr txBox="1"/>
          <p:nvPr/>
        </p:nvSpPr>
        <p:spPr>
          <a:xfrm>
            <a:off x="255270" y="4088256"/>
            <a:ext cx="5612130" cy="2554545"/>
          </a:xfrm>
          <a:prstGeom prst="rect">
            <a:avLst/>
          </a:prstGeom>
          <a:solidFill>
            <a:schemeClr val="accent6">
              <a:lumMod val="20000"/>
              <a:lumOff val="80000"/>
            </a:schemeClr>
          </a:solidFill>
        </p:spPr>
        <p:txBody>
          <a:bodyPr wrap="square" rtlCol="0">
            <a:spAutoFit/>
          </a:bodyPr>
          <a:lstStyle/>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Total orders placed</a:t>
            </a:r>
          </a:p>
          <a:p>
            <a:pPr marL="285750" indent="-285750">
              <a:buFont typeface="Arial" panose="020B0604020202020204" pitchFamily="34" charset="0"/>
              <a:buChar char="•"/>
            </a:pPr>
            <a:r>
              <a:rPr lang="en-US" sz="2000" dirty="0"/>
              <a:t>Total revenue generated</a:t>
            </a:r>
          </a:p>
          <a:p>
            <a:pPr marL="285750" indent="-285750">
              <a:buFont typeface="Arial" panose="020B0604020202020204" pitchFamily="34" charset="0"/>
              <a:buChar char="•"/>
            </a:pPr>
            <a:r>
              <a:rPr lang="en-US" sz="2000" dirty="0"/>
              <a:t>Most common pizza size</a:t>
            </a:r>
          </a:p>
          <a:p>
            <a:pPr marL="285750" indent="-285750">
              <a:buFont typeface="Arial" panose="020B0604020202020204" pitchFamily="34" charset="0"/>
              <a:buChar char="•"/>
            </a:pPr>
            <a:r>
              <a:rPr lang="en-US" sz="2000" dirty="0"/>
              <a:t>Top-selling pizzas</a:t>
            </a:r>
          </a:p>
          <a:p>
            <a:pPr marL="285750" indent="-285750">
              <a:buFont typeface="Arial" panose="020B0604020202020204" pitchFamily="34" charset="0"/>
              <a:buChar char="•"/>
            </a:pPr>
            <a:r>
              <a:rPr lang="en-US" sz="2000" dirty="0"/>
              <a:t>Category-wise sales</a:t>
            </a:r>
          </a:p>
          <a:p>
            <a:pPr marL="285750" indent="-285750">
              <a:buFont typeface="Arial" panose="020B0604020202020204" pitchFamily="34" charset="0"/>
              <a:buChar char="•"/>
            </a:pPr>
            <a:r>
              <a:rPr lang="en-US" sz="2000" dirty="0"/>
              <a:t>Revenue contribution analysis</a:t>
            </a:r>
          </a:p>
          <a:p>
            <a:endParaRPr lang="en-US" sz="2000" dirty="0"/>
          </a:p>
        </p:txBody>
      </p:sp>
      <p:sp>
        <p:nvSpPr>
          <p:cNvPr id="31" name="TextBox 30">
            <a:extLst>
              <a:ext uri="{FF2B5EF4-FFF2-40B4-BE49-F238E27FC236}">
                <a16:creationId xmlns:a16="http://schemas.microsoft.com/office/drawing/2014/main" id="{A0922F3C-C727-F0F0-CDD8-36F8C4C1DCA1}"/>
              </a:ext>
            </a:extLst>
          </p:cNvPr>
          <p:cNvSpPr txBox="1"/>
          <p:nvPr/>
        </p:nvSpPr>
        <p:spPr>
          <a:xfrm>
            <a:off x="6353175" y="937305"/>
            <a:ext cx="5554979" cy="369332"/>
          </a:xfrm>
          <a:prstGeom prst="rect">
            <a:avLst/>
          </a:prstGeom>
          <a:solidFill>
            <a:schemeClr val="accent6">
              <a:lumMod val="60000"/>
              <a:lumOff val="40000"/>
            </a:schemeClr>
          </a:solidFill>
        </p:spPr>
        <p:txBody>
          <a:bodyPr wrap="square" rtlCol="0">
            <a:spAutoFit/>
          </a:bodyPr>
          <a:lstStyle/>
          <a:p>
            <a:pPr algn="ctr"/>
            <a:r>
              <a:rPr lang="en-US" b="1" dirty="0">
                <a:effectLst>
                  <a:outerShdw blurRad="38100" dist="38100" dir="2700000" algn="tl">
                    <a:srgbClr val="000000">
                      <a:alpha val="43137"/>
                    </a:srgbClr>
                  </a:outerShdw>
                </a:effectLst>
              </a:rPr>
              <a:t>REVENUE ANALYSIS</a:t>
            </a:r>
          </a:p>
        </p:txBody>
      </p:sp>
      <p:sp>
        <p:nvSpPr>
          <p:cNvPr id="32" name="TextBox 31">
            <a:extLst>
              <a:ext uri="{FF2B5EF4-FFF2-40B4-BE49-F238E27FC236}">
                <a16:creationId xmlns:a16="http://schemas.microsoft.com/office/drawing/2014/main" id="{5BFD07E6-1745-B851-B505-FB74ACF41B27}"/>
              </a:ext>
            </a:extLst>
          </p:cNvPr>
          <p:cNvSpPr txBox="1"/>
          <p:nvPr/>
        </p:nvSpPr>
        <p:spPr>
          <a:xfrm>
            <a:off x="6353175" y="2077058"/>
            <a:ext cx="5583554" cy="369332"/>
          </a:xfrm>
          <a:prstGeom prst="rect">
            <a:avLst/>
          </a:prstGeom>
          <a:solidFill>
            <a:schemeClr val="accent6">
              <a:lumMod val="60000"/>
              <a:lumOff val="40000"/>
            </a:schemeClr>
          </a:solidFill>
        </p:spPr>
        <p:txBody>
          <a:bodyPr wrap="square" rtlCol="0">
            <a:spAutoFit/>
          </a:bodyPr>
          <a:lstStyle/>
          <a:p>
            <a:pPr algn="ctr"/>
            <a:r>
              <a:rPr lang="en-US" b="1" dirty="0">
                <a:effectLst>
                  <a:outerShdw blurRad="38100" dist="38100" dir="2700000" algn="tl">
                    <a:srgbClr val="000000">
                      <a:alpha val="43137"/>
                    </a:srgbClr>
                  </a:outerShdw>
                </a:effectLst>
              </a:rPr>
              <a:t>TOP SELLING PIZZAS</a:t>
            </a:r>
          </a:p>
        </p:txBody>
      </p:sp>
      <p:sp>
        <p:nvSpPr>
          <p:cNvPr id="33" name="TextBox 32">
            <a:extLst>
              <a:ext uri="{FF2B5EF4-FFF2-40B4-BE49-F238E27FC236}">
                <a16:creationId xmlns:a16="http://schemas.microsoft.com/office/drawing/2014/main" id="{36046012-4B23-102B-66AC-E7FE578E5A9B}"/>
              </a:ext>
            </a:extLst>
          </p:cNvPr>
          <p:cNvSpPr txBox="1"/>
          <p:nvPr/>
        </p:nvSpPr>
        <p:spPr>
          <a:xfrm>
            <a:off x="6353175" y="3862916"/>
            <a:ext cx="5593132" cy="367656"/>
          </a:xfrm>
          <a:prstGeom prst="rect">
            <a:avLst/>
          </a:prstGeom>
          <a:solidFill>
            <a:schemeClr val="accent6">
              <a:lumMod val="60000"/>
              <a:lumOff val="40000"/>
            </a:schemeClr>
          </a:solidFill>
        </p:spPr>
        <p:txBody>
          <a:bodyPr wrap="square" rtlCol="0">
            <a:spAutoFit/>
          </a:bodyPr>
          <a:lstStyle/>
          <a:p>
            <a:pPr algn="ctr"/>
            <a:r>
              <a:rPr lang="en-US" b="1" dirty="0">
                <a:effectLst>
                  <a:outerShdw blurRad="38100" dist="38100" dir="2700000" algn="tl">
                    <a:srgbClr val="000000">
                      <a:alpha val="43137"/>
                    </a:srgbClr>
                  </a:outerShdw>
                </a:effectLst>
              </a:rPr>
              <a:t>CATEGORY-WISE SALES</a:t>
            </a:r>
          </a:p>
        </p:txBody>
      </p:sp>
      <p:sp>
        <p:nvSpPr>
          <p:cNvPr id="40" name="TextBox 39">
            <a:extLst>
              <a:ext uri="{FF2B5EF4-FFF2-40B4-BE49-F238E27FC236}">
                <a16:creationId xmlns:a16="http://schemas.microsoft.com/office/drawing/2014/main" id="{5746946D-E217-81D6-F590-510C731A0077}"/>
              </a:ext>
            </a:extLst>
          </p:cNvPr>
          <p:cNvSpPr txBox="1"/>
          <p:nvPr/>
        </p:nvSpPr>
        <p:spPr>
          <a:xfrm>
            <a:off x="241935" y="981196"/>
            <a:ext cx="5625465"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SQL CONCEPTS USED</a:t>
            </a:r>
          </a:p>
        </p:txBody>
      </p:sp>
      <p:sp>
        <p:nvSpPr>
          <p:cNvPr id="41" name="TextBox 40">
            <a:extLst>
              <a:ext uri="{FF2B5EF4-FFF2-40B4-BE49-F238E27FC236}">
                <a16:creationId xmlns:a16="http://schemas.microsoft.com/office/drawing/2014/main" id="{410D2333-8A62-AD86-68D9-D8158B0BB468}"/>
              </a:ext>
            </a:extLst>
          </p:cNvPr>
          <p:cNvSpPr txBox="1"/>
          <p:nvPr/>
        </p:nvSpPr>
        <p:spPr>
          <a:xfrm>
            <a:off x="255270" y="3862916"/>
            <a:ext cx="5612130"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BUSINESS QUESTIONS ANSWERED</a:t>
            </a:r>
          </a:p>
        </p:txBody>
      </p:sp>
      <p:cxnSp>
        <p:nvCxnSpPr>
          <p:cNvPr id="43" name="Straight Connector 42">
            <a:extLst>
              <a:ext uri="{FF2B5EF4-FFF2-40B4-BE49-F238E27FC236}">
                <a16:creationId xmlns:a16="http://schemas.microsoft.com/office/drawing/2014/main" id="{4B75965D-51AD-0022-BA48-FC1E9BC45E84}"/>
              </a:ext>
            </a:extLst>
          </p:cNvPr>
          <p:cNvCxnSpPr/>
          <p:nvPr/>
        </p:nvCxnSpPr>
        <p:spPr>
          <a:xfrm>
            <a:off x="6096000" y="808665"/>
            <a:ext cx="0" cy="598266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A93B5ABF-0F56-5E29-0689-7967F7B1EB4E}"/>
              </a:ext>
            </a:extLst>
          </p:cNvPr>
          <p:cNvCxnSpPr/>
          <p:nvPr/>
        </p:nvCxnSpPr>
        <p:spPr>
          <a:xfrm>
            <a:off x="0" y="3705225"/>
            <a:ext cx="609600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24941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F5D83A9-10CE-E75F-FB98-B619444716F9}"/>
              </a:ext>
            </a:extLst>
          </p:cNvPr>
          <p:cNvGraphicFramePr>
            <a:graphicFrameLocks noGrp="1"/>
          </p:cNvGraphicFramePr>
          <p:nvPr>
            <p:ph sz="half" idx="2"/>
            <p:extLst>
              <p:ext uri="{D42A27DB-BD31-4B8C-83A1-F6EECF244321}">
                <p14:modId xmlns:p14="http://schemas.microsoft.com/office/powerpoint/2010/main" val="3343209366"/>
              </p:ext>
            </p:extLst>
          </p:nvPr>
        </p:nvGraphicFramePr>
        <p:xfrm>
          <a:off x="7354489" y="1335733"/>
          <a:ext cx="3600450" cy="22585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E5850FD7-2807-954A-5177-8D3E2ABD81B4}"/>
              </a:ext>
            </a:extLst>
          </p:cNvPr>
          <p:cNvGraphicFramePr/>
          <p:nvPr>
            <p:extLst>
              <p:ext uri="{D42A27DB-BD31-4B8C-83A1-F6EECF244321}">
                <p14:modId xmlns:p14="http://schemas.microsoft.com/office/powerpoint/2010/main" val="2361840553"/>
              </p:ext>
            </p:extLst>
          </p:nvPr>
        </p:nvGraphicFramePr>
        <p:xfrm>
          <a:off x="6968727" y="4152902"/>
          <a:ext cx="4371975" cy="2546801"/>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Straight Connector 15">
            <a:extLst>
              <a:ext uri="{FF2B5EF4-FFF2-40B4-BE49-F238E27FC236}">
                <a16:creationId xmlns:a16="http://schemas.microsoft.com/office/drawing/2014/main" id="{0B894A82-C871-628E-78C7-6B9F7854ADF8}"/>
              </a:ext>
            </a:extLst>
          </p:cNvPr>
          <p:cNvCxnSpPr/>
          <p:nvPr/>
        </p:nvCxnSpPr>
        <p:spPr>
          <a:xfrm>
            <a:off x="0" y="804672"/>
            <a:ext cx="12192000" cy="0"/>
          </a:xfrm>
          <a:prstGeom prst="line">
            <a:avLst/>
          </a:prstGeom>
          <a:ln>
            <a:solidFill>
              <a:schemeClr val="accent6">
                <a:lumMod val="75000"/>
              </a:schemeClr>
            </a:solidFill>
          </a:ln>
        </p:spPr>
        <p:style>
          <a:lnRef idx="3">
            <a:schemeClr val="accent6"/>
          </a:lnRef>
          <a:fillRef idx="0">
            <a:schemeClr val="accent6"/>
          </a:fillRef>
          <a:effectRef idx="2">
            <a:schemeClr val="accent6"/>
          </a:effectRef>
          <a:fontRef idx="minor">
            <a:schemeClr val="tx1"/>
          </a:fontRef>
        </p:style>
      </p:cxnSp>
      <p:sp>
        <p:nvSpPr>
          <p:cNvPr id="17" name="TextBox 16">
            <a:extLst>
              <a:ext uri="{FF2B5EF4-FFF2-40B4-BE49-F238E27FC236}">
                <a16:creationId xmlns:a16="http://schemas.microsoft.com/office/drawing/2014/main" id="{EA3AF38E-4063-25AC-E85E-3503922A061C}"/>
              </a:ext>
            </a:extLst>
          </p:cNvPr>
          <p:cNvSpPr txBox="1"/>
          <p:nvPr/>
        </p:nvSpPr>
        <p:spPr>
          <a:xfrm>
            <a:off x="142875" y="105376"/>
            <a:ext cx="8324850" cy="584775"/>
          </a:xfrm>
          <a:prstGeom prst="rect">
            <a:avLst/>
          </a:prstGeom>
          <a:noFill/>
        </p:spPr>
        <p:txBody>
          <a:bodyPr wrap="square" rtlCol="0">
            <a:spAutoFit/>
          </a:bodyPr>
          <a:lstStyle/>
          <a:p>
            <a:r>
              <a:rPr lang="en-US" sz="3200" b="1" dirty="0">
                <a:solidFill>
                  <a:schemeClr val="accent6">
                    <a:lumMod val="50000"/>
                  </a:schemeClr>
                </a:solidFill>
                <a:effectLst>
                  <a:outerShdw blurRad="38100" dist="38100" dir="2700000" algn="tl">
                    <a:srgbClr val="000000">
                      <a:alpha val="43137"/>
                    </a:srgbClr>
                  </a:outerShdw>
                </a:effectLst>
              </a:rPr>
              <a:t>Sales Performance &amp; Key Metrics</a:t>
            </a:r>
          </a:p>
        </p:txBody>
      </p:sp>
      <p:sp>
        <p:nvSpPr>
          <p:cNvPr id="18" name="TextBox 17">
            <a:extLst>
              <a:ext uri="{FF2B5EF4-FFF2-40B4-BE49-F238E27FC236}">
                <a16:creationId xmlns:a16="http://schemas.microsoft.com/office/drawing/2014/main" id="{F7420888-8D28-99EF-6A3E-87E3F570E1FB}"/>
              </a:ext>
            </a:extLst>
          </p:cNvPr>
          <p:cNvSpPr txBox="1"/>
          <p:nvPr/>
        </p:nvSpPr>
        <p:spPr>
          <a:xfrm>
            <a:off x="216693" y="1024233"/>
            <a:ext cx="5641181"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KEY PERFORMANCE INDICATORS (KPIs)</a:t>
            </a:r>
          </a:p>
        </p:txBody>
      </p:sp>
      <p:sp>
        <p:nvSpPr>
          <p:cNvPr id="19" name="TextBox 18">
            <a:extLst>
              <a:ext uri="{FF2B5EF4-FFF2-40B4-BE49-F238E27FC236}">
                <a16:creationId xmlns:a16="http://schemas.microsoft.com/office/drawing/2014/main" id="{1C3B0F08-D9E6-A4F5-2285-786A4AE7439F}"/>
              </a:ext>
            </a:extLst>
          </p:cNvPr>
          <p:cNvSpPr txBox="1"/>
          <p:nvPr/>
        </p:nvSpPr>
        <p:spPr>
          <a:xfrm>
            <a:off x="6334125" y="1024233"/>
            <a:ext cx="5641181"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PERCENTAGE CONTRIBUTION</a:t>
            </a:r>
          </a:p>
        </p:txBody>
      </p:sp>
      <p:sp>
        <p:nvSpPr>
          <p:cNvPr id="21" name="TextBox 20">
            <a:extLst>
              <a:ext uri="{FF2B5EF4-FFF2-40B4-BE49-F238E27FC236}">
                <a16:creationId xmlns:a16="http://schemas.microsoft.com/office/drawing/2014/main" id="{50E76A86-BC38-95C5-8214-729C89F0244C}"/>
              </a:ext>
            </a:extLst>
          </p:cNvPr>
          <p:cNvSpPr txBox="1"/>
          <p:nvPr/>
        </p:nvSpPr>
        <p:spPr>
          <a:xfrm>
            <a:off x="6334125" y="3642764"/>
            <a:ext cx="5641180"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QUANTITY SOLD</a:t>
            </a:r>
          </a:p>
        </p:txBody>
      </p:sp>
      <p:cxnSp>
        <p:nvCxnSpPr>
          <p:cNvPr id="23" name="Straight Connector 22">
            <a:extLst>
              <a:ext uri="{FF2B5EF4-FFF2-40B4-BE49-F238E27FC236}">
                <a16:creationId xmlns:a16="http://schemas.microsoft.com/office/drawing/2014/main" id="{854A6FF6-3162-A3B2-E08C-113594F562EA}"/>
              </a:ext>
            </a:extLst>
          </p:cNvPr>
          <p:cNvCxnSpPr/>
          <p:nvPr/>
        </p:nvCxnSpPr>
        <p:spPr>
          <a:xfrm>
            <a:off x="6096000" y="804672"/>
            <a:ext cx="0" cy="6053328"/>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1691376-9410-BA03-A44F-6DED40F1A298}"/>
              </a:ext>
            </a:extLst>
          </p:cNvPr>
          <p:cNvCxnSpPr>
            <a:cxnSpLocks/>
          </p:cNvCxnSpPr>
          <p:nvPr/>
        </p:nvCxnSpPr>
        <p:spPr>
          <a:xfrm>
            <a:off x="6096000" y="3429000"/>
            <a:ext cx="609600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Rectangle 31">
            <a:extLst>
              <a:ext uri="{FF2B5EF4-FFF2-40B4-BE49-F238E27FC236}">
                <a16:creationId xmlns:a16="http://schemas.microsoft.com/office/drawing/2014/main" id="{39B7E8CB-98B4-7164-873D-6A86C124AA84}"/>
              </a:ext>
            </a:extLst>
          </p:cNvPr>
          <p:cNvSpPr/>
          <p:nvPr/>
        </p:nvSpPr>
        <p:spPr>
          <a:xfrm>
            <a:off x="216693" y="1705458"/>
            <a:ext cx="5641180" cy="4895368"/>
          </a:xfrm>
          <a:prstGeom prst="rect">
            <a:avLst/>
          </a:prstGeom>
          <a:solidFill>
            <a:schemeClr val="accent6">
              <a:lumMod val="20000"/>
              <a:lumOff val="80000"/>
            </a:schemeClr>
          </a:solidFill>
          <a:ln>
            <a:prstDash val="sysDash"/>
          </a:ln>
        </p:spPr>
        <p:style>
          <a:lnRef idx="2">
            <a:schemeClr val="accent6"/>
          </a:lnRef>
          <a:fillRef idx="1">
            <a:schemeClr val="lt1"/>
          </a:fillRef>
          <a:effectRef idx="0">
            <a:schemeClr val="accent6"/>
          </a:effectRef>
          <a:fontRef idx="minor">
            <a:schemeClr val="dk1"/>
          </a:fontRef>
        </p:style>
        <p:txBody>
          <a:bodyPr rtlCol="0" anchor="ctr"/>
          <a:lstStyle/>
          <a:p>
            <a:endParaRPr lang="en-US" dirty="0"/>
          </a:p>
        </p:txBody>
      </p:sp>
      <p:cxnSp>
        <p:nvCxnSpPr>
          <p:cNvPr id="34" name="Straight Connector 33">
            <a:extLst>
              <a:ext uri="{FF2B5EF4-FFF2-40B4-BE49-F238E27FC236}">
                <a16:creationId xmlns:a16="http://schemas.microsoft.com/office/drawing/2014/main" id="{99C03D66-C635-9F66-3E6B-B177B2040E0A}"/>
              </a:ext>
            </a:extLst>
          </p:cNvPr>
          <p:cNvCxnSpPr>
            <a:cxnSpLocks/>
            <a:stCxn id="32" idx="0"/>
            <a:endCxn id="32" idx="2"/>
          </p:cNvCxnSpPr>
          <p:nvPr/>
        </p:nvCxnSpPr>
        <p:spPr>
          <a:xfrm>
            <a:off x="3037283" y="1705458"/>
            <a:ext cx="0" cy="4895368"/>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D9DE3BAE-CE10-CEA3-2C92-829825F68765}"/>
              </a:ext>
            </a:extLst>
          </p:cNvPr>
          <p:cNvCxnSpPr>
            <a:cxnSpLocks/>
            <a:stCxn id="32" idx="1"/>
            <a:endCxn id="32" idx="3"/>
          </p:cNvCxnSpPr>
          <p:nvPr/>
        </p:nvCxnSpPr>
        <p:spPr>
          <a:xfrm>
            <a:off x="216693" y="4153142"/>
            <a:ext cx="564118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3" name="TextBox 52">
            <a:extLst>
              <a:ext uri="{FF2B5EF4-FFF2-40B4-BE49-F238E27FC236}">
                <a16:creationId xmlns:a16="http://schemas.microsoft.com/office/drawing/2014/main" id="{D02AD6B2-8A87-8C0C-6A32-4D85E64F7A29}"/>
              </a:ext>
            </a:extLst>
          </p:cNvPr>
          <p:cNvSpPr txBox="1"/>
          <p:nvPr/>
        </p:nvSpPr>
        <p:spPr>
          <a:xfrm>
            <a:off x="375050" y="1833925"/>
            <a:ext cx="2543170" cy="2308324"/>
          </a:xfrm>
          <a:prstGeom prst="rect">
            <a:avLst/>
          </a:prstGeom>
          <a:noFill/>
        </p:spPr>
        <p:txBody>
          <a:bodyPr wrap="square" rtlCol="0">
            <a:spAutoFit/>
          </a:bodyPr>
          <a:lstStyle/>
          <a:p>
            <a:r>
              <a:rPr lang="en-US" b="1" dirty="0"/>
              <a:t>Total Orders</a:t>
            </a:r>
          </a:p>
          <a:p>
            <a:r>
              <a:rPr lang="en-US" dirty="0">
                <a:effectLst>
                  <a:outerShdw blurRad="38100" dist="38100" dir="2700000" algn="tl">
                    <a:srgbClr val="000000">
                      <a:alpha val="43137"/>
                    </a:srgbClr>
                  </a:outerShdw>
                </a:effectLst>
              </a:rPr>
              <a:t>21,350</a:t>
            </a:r>
          </a:p>
          <a:p>
            <a:endParaRPr lang="en-US" dirty="0"/>
          </a:p>
          <a:p>
            <a:r>
              <a:rPr lang="en-US" u="sng" dirty="0"/>
              <a:t>Insight:</a:t>
            </a:r>
          </a:p>
          <a:p>
            <a:r>
              <a:rPr lang="en-US" dirty="0"/>
              <a:t>Represents the total number of customer orders analysed during the study period.</a:t>
            </a:r>
          </a:p>
        </p:txBody>
      </p:sp>
      <p:sp>
        <p:nvSpPr>
          <p:cNvPr id="54" name="TextBox 53">
            <a:extLst>
              <a:ext uri="{FF2B5EF4-FFF2-40B4-BE49-F238E27FC236}">
                <a16:creationId xmlns:a16="http://schemas.microsoft.com/office/drawing/2014/main" id="{E4CA198E-14C5-EB6E-0462-74FDC5EC9886}"/>
              </a:ext>
            </a:extLst>
          </p:cNvPr>
          <p:cNvSpPr txBox="1"/>
          <p:nvPr/>
        </p:nvSpPr>
        <p:spPr>
          <a:xfrm>
            <a:off x="3143250" y="1833925"/>
            <a:ext cx="2609847" cy="2308324"/>
          </a:xfrm>
          <a:prstGeom prst="rect">
            <a:avLst/>
          </a:prstGeom>
          <a:noFill/>
        </p:spPr>
        <p:txBody>
          <a:bodyPr wrap="square" rtlCol="0">
            <a:spAutoFit/>
          </a:bodyPr>
          <a:lstStyle/>
          <a:p>
            <a:r>
              <a:rPr lang="en-US" b="1" dirty="0"/>
              <a:t>Total Revenue</a:t>
            </a:r>
          </a:p>
          <a:p>
            <a:r>
              <a:rPr lang="en-US" dirty="0">
                <a:effectLst>
                  <a:outerShdw blurRad="38100" dist="38100" dir="2700000" algn="tl">
                    <a:srgbClr val="000000">
                      <a:alpha val="43137"/>
                    </a:srgbClr>
                  </a:outerShdw>
                </a:effectLst>
              </a:rPr>
              <a:t>$817,860</a:t>
            </a:r>
          </a:p>
          <a:p>
            <a:endParaRPr lang="en-US" dirty="0"/>
          </a:p>
          <a:p>
            <a:r>
              <a:rPr lang="en-US" u="sng" dirty="0"/>
              <a:t>Insight:</a:t>
            </a:r>
          </a:p>
          <a:p>
            <a:r>
              <a:rPr lang="en-US" dirty="0"/>
              <a:t>Total sales generated from pizza orders, highlighting overall business performance.</a:t>
            </a:r>
          </a:p>
        </p:txBody>
      </p:sp>
      <p:sp>
        <p:nvSpPr>
          <p:cNvPr id="55" name="TextBox 54">
            <a:extLst>
              <a:ext uri="{FF2B5EF4-FFF2-40B4-BE49-F238E27FC236}">
                <a16:creationId xmlns:a16="http://schemas.microsoft.com/office/drawing/2014/main" id="{823FCDC8-9F99-25F7-D762-AF2BDFF51D99}"/>
              </a:ext>
            </a:extLst>
          </p:cNvPr>
          <p:cNvSpPr txBox="1"/>
          <p:nvPr/>
        </p:nvSpPr>
        <p:spPr>
          <a:xfrm>
            <a:off x="333377" y="4168675"/>
            <a:ext cx="2543169" cy="2308324"/>
          </a:xfrm>
          <a:prstGeom prst="rect">
            <a:avLst/>
          </a:prstGeom>
          <a:noFill/>
        </p:spPr>
        <p:txBody>
          <a:bodyPr wrap="square" rtlCol="0">
            <a:spAutoFit/>
          </a:bodyPr>
          <a:lstStyle/>
          <a:p>
            <a:r>
              <a:rPr lang="en-US" b="1" dirty="0"/>
              <a:t>Most ordered pizza size</a:t>
            </a:r>
          </a:p>
          <a:p>
            <a:r>
              <a:rPr lang="en-US" dirty="0">
                <a:effectLst>
                  <a:outerShdw blurRad="38100" dist="38100" dir="2700000" algn="tl">
                    <a:srgbClr val="000000">
                      <a:alpha val="43137"/>
                    </a:srgbClr>
                  </a:outerShdw>
                </a:effectLst>
              </a:rPr>
              <a:t>Large</a:t>
            </a:r>
          </a:p>
          <a:p>
            <a:r>
              <a:rPr lang="en-US" dirty="0">
                <a:effectLst>
                  <a:outerShdw blurRad="38100" dist="38100" dir="2700000" algn="tl">
                    <a:srgbClr val="000000">
                      <a:alpha val="43137"/>
                    </a:srgbClr>
                  </a:outerShdw>
                </a:effectLst>
              </a:rPr>
              <a:t>18,526 </a:t>
            </a:r>
            <a:r>
              <a:rPr lang="en-US" dirty="0"/>
              <a:t>orders</a:t>
            </a:r>
          </a:p>
          <a:p>
            <a:endParaRPr lang="en-US" dirty="0"/>
          </a:p>
          <a:p>
            <a:r>
              <a:rPr lang="en-US" u="sng" dirty="0"/>
              <a:t>Insight:</a:t>
            </a:r>
          </a:p>
          <a:p>
            <a:r>
              <a:rPr lang="en-US" dirty="0"/>
              <a:t>Large-sized pizzas were the most preferred choice among customers</a:t>
            </a:r>
          </a:p>
        </p:txBody>
      </p:sp>
      <p:sp>
        <p:nvSpPr>
          <p:cNvPr id="56" name="TextBox 55">
            <a:extLst>
              <a:ext uri="{FF2B5EF4-FFF2-40B4-BE49-F238E27FC236}">
                <a16:creationId xmlns:a16="http://schemas.microsoft.com/office/drawing/2014/main" id="{68D5FEBF-184E-3F39-F2DA-FC8C68EF12F3}"/>
              </a:ext>
            </a:extLst>
          </p:cNvPr>
          <p:cNvSpPr txBox="1"/>
          <p:nvPr/>
        </p:nvSpPr>
        <p:spPr>
          <a:xfrm>
            <a:off x="3143250" y="4248150"/>
            <a:ext cx="2595550" cy="2308324"/>
          </a:xfrm>
          <a:prstGeom prst="rect">
            <a:avLst/>
          </a:prstGeom>
          <a:noFill/>
        </p:spPr>
        <p:txBody>
          <a:bodyPr wrap="square" rtlCol="0">
            <a:spAutoFit/>
          </a:bodyPr>
          <a:lstStyle/>
          <a:p>
            <a:r>
              <a:rPr lang="en-US" b="1" dirty="0"/>
              <a:t>Highest sales category</a:t>
            </a:r>
          </a:p>
          <a:p>
            <a:r>
              <a:rPr lang="en-US" dirty="0">
                <a:effectLst>
                  <a:outerShdw blurRad="38100" dist="38100" dir="2700000" algn="tl">
                    <a:srgbClr val="000000">
                      <a:alpha val="43137"/>
                    </a:srgbClr>
                  </a:outerShdw>
                </a:effectLst>
              </a:rPr>
              <a:t>Classic</a:t>
            </a:r>
          </a:p>
          <a:p>
            <a:r>
              <a:rPr lang="en-US" dirty="0">
                <a:effectLst>
                  <a:outerShdw blurRad="38100" dist="38100" dir="2700000" algn="tl">
                    <a:srgbClr val="000000">
                      <a:alpha val="43137"/>
                    </a:srgbClr>
                  </a:outerShdw>
                </a:effectLst>
              </a:rPr>
              <a:t>14,888 </a:t>
            </a:r>
            <a:r>
              <a:rPr lang="en-US" dirty="0"/>
              <a:t>units sold</a:t>
            </a:r>
          </a:p>
          <a:p>
            <a:endParaRPr lang="en-US" dirty="0"/>
          </a:p>
          <a:p>
            <a:r>
              <a:rPr lang="en-US" u="sng" dirty="0"/>
              <a:t>Insight:</a:t>
            </a:r>
          </a:p>
          <a:p>
            <a:r>
              <a:rPr lang="en-US" dirty="0"/>
              <a:t>Classic pizzas contributed the highest sales volume across all categories.</a:t>
            </a:r>
          </a:p>
        </p:txBody>
      </p:sp>
      <p:pic>
        <p:nvPicPr>
          <p:cNvPr id="58" name="Graphic 57" descr="Shopping cart with solid fill">
            <a:extLst>
              <a:ext uri="{FF2B5EF4-FFF2-40B4-BE49-F238E27FC236}">
                <a16:creationId xmlns:a16="http://schemas.microsoft.com/office/drawing/2014/main" id="{15CDE835-1C7E-D3DF-C900-AC6D5EAC69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9066" y="2000614"/>
            <a:ext cx="619124" cy="619124"/>
          </a:xfrm>
          <a:prstGeom prst="rect">
            <a:avLst/>
          </a:prstGeom>
        </p:spPr>
      </p:pic>
      <p:pic>
        <p:nvPicPr>
          <p:cNvPr id="60" name="Graphic 59" descr="Dollar with solid fill">
            <a:extLst>
              <a:ext uri="{FF2B5EF4-FFF2-40B4-BE49-F238E27FC236}">
                <a16:creationId xmlns:a16="http://schemas.microsoft.com/office/drawing/2014/main" id="{16D6FAC4-6788-3BE6-B0DC-EA1348C070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87512" y="2000614"/>
            <a:ext cx="619118" cy="619124"/>
          </a:xfrm>
          <a:prstGeom prst="rect">
            <a:avLst/>
          </a:prstGeom>
        </p:spPr>
      </p:pic>
      <p:pic>
        <p:nvPicPr>
          <p:cNvPr id="62" name="Graphic 61" descr="Trophy with solid fill">
            <a:extLst>
              <a:ext uri="{FF2B5EF4-FFF2-40B4-BE49-F238E27FC236}">
                <a16:creationId xmlns:a16="http://schemas.microsoft.com/office/drawing/2014/main" id="{D20344A4-3713-BFF5-403F-24148138A4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11033" y="4713829"/>
            <a:ext cx="609008" cy="609008"/>
          </a:xfrm>
          <a:prstGeom prst="rect">
            <a:avLst/>
          </a:prstGeom>
        </p:spPr>
      </p:pic>
      <p:pic>
        <p:nvPicPr>
          <p:cNvPr id="68" name="Graphic 67" descr="Upward trend with solid fill">
            <a:extLst>
              <a:ext uri="{FF2B5EF4-FFF2-40B4-BE49-F238E27FC236}">
                <a16:creationId xmlns:a16="http://schemas.microsoft.com/office/drawing/2014/main" id="{CBDEB24E-A582-9F1C-3876-E61366ECD5F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969" y="4587786"/>
            <a:ext cx="695318" cy="695318"/>
          </a:xfrm>
          <a:prstGeom prst="rect">
            <a:avLst/>
          </a:prstGeom>
        </p:spPr>
      </p:pic>
    </p:spTree>
    <p:extLst>
      <p:ext uri="{BB962C8B-B14F-4D97-AF65-F5344CB8AC3E}">
        <p14:creationId xmlns:p14="http://schemas.microsoft.com/office/powerpoint/2010/main" val="131300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BFB781-CED9-91D5-3D13-292C1B087801}"/>
              </a:ext>
            </a:extLst>
          </p:cNvPr>
          <p:cNvSpPr>
            <a:spLocks noGrp="1"/>
          </p:cNvSpPr>
          <p:nvPr>
            <p:ph idx="1"/>
          </p:nvPr>
        </p:nvSpPr>
        <p:spPr>
          <a:xfrm>
            <a:off x="6353175" y="1487174"/>
            <a:ext cx="5614987" cy="3647152"/>
          </a:xfrm>
          <a:solidFill>
            <a:schemeClr val="accent6">
              <a:lumMod val="20000"/>
              <a:lumOff val="80000"/>
            </a:schemeClr>
          </a:solidFill>
        </p:spPr>
        <p:txBody>
          <a:bodyPr>
            <a:normAutofit/>
          </a:bodyPr>
          <a:lstStyle/>
          <a:p>
            <a:pPr marL="0" indent="0">
              <a:buNone/>
            </a:pPr>
            <a:endParaRPr lang="en-US" sz="2000" b="1" dirty="0">
              <a:effectLst>
                <a:outerShdw blurRad="38100" dist="38100" dir="2700000" algn="tl">
                  <a:srgbClr val="000000">
                    <a:alpha val="43137"/>
                  </a:srgbClr>
                </a:outerShdw>
              </a:effectLst>
            </a:endParaRPr>
          </a:p>
          <a:p>
            <a:pPr marL="0" indent="0">
              <a:buNone/>
            </a:pPr>
            <a:endParaRPr lang="en-US" sz="2000" b="1" dirty="0">
              <a:effectLst>
                <a:outerShdw blurRad="38100" dist="38100" dir="2700000" algn="tl">
                  <a:srgbClr val="000000">
                    <a:alpha val="43137"/>
                  </a:srgbClr>
                </a:outerShdw>
              </a:effectLst>
            </a:endParaRPr>
          </a:p>
          <a:p>
            <a:pPr marL="0" indent="0">
              <a:lnSpc>
                <a:spcPct val="20000"/>
              </a:lnSpc>
              <a:buNone/>
            </a:pPr>
            <a:endParaRPr lang="en-US" sz="2000" b="1" dirty="0">
              <a:effectLst>
                <a:outerShdw blurRad="38100" dist="38100" dir="2700000" algn="tl">
                  <a:srgbClr val="000000">
                    <a:alpha val="43137"/>
                  </a:srgbClr>
                </a:outerShdw>
              </a:effectLst>
            </a:endParaRPr>
          </a:p>
          <a:p>
            <a:pPr>
              <a:lnSpc>
                <a:spcPct val="100000"/>
              </a:lnSpc>
            </a:pPr>
            <a:r>
              <a:rPr lang="en-US" sz="1700" dirty="0"/>
              <a:t>Maintain higher inventory levels for top-selling pizzas.</a:t>
            </a:r>
          </a:p>
          <a:p>
            <a:pPr>
              <a:lnSpc>
                <a:spcPct val="100000"/>
              </a:lnSpc>
            </a:pPr>
            <a:r>
              <a:rPr lang="en-US" sz="1700" dirty="0"/>
              <a:t>Introduce combo offers featuring best-selling products.</a:t>
            </a:r>
          </a:p>
          <a:p>
            <a:pPr>
              <a:lnSpc>
                <a:spcPct val="100000"/>
              </a:lnSpc>
            </a:pPr>
            <a:r>
              <a:rPr lang="en-US" sz="1700" dirty="0"/>
              <a:t>Promote low-performing pizzas through discounts and bundle deals.</a:t>
            </a:r>
          </a:p>
          <a:p>
            <a:pPr>
              <a:lnSpc>
                <a:spcPct val="100000"/>
              </a:lnSpc>
            </a:pPr>
            <a:r>
              <a:rPr lang="en-US" sz="1700" dirty="0"/>
              <a:t>Focus marketing efforts on the most profitable categories.</a:t>
            </a:r>
          </a:p>
          <a:p>
            <a:pPr>
              <a:lnSpc>
                <a:spcPct val="100000"/>
              </a:lnSpc>
            </a:pPr>
            <a:r>
              <a:rPr lang="en-US" sz="1700" dirty="0"/>
              <a:t>Use sales insights to improve inventory planning and reduce wastage.</a:t>
            </a:r>
          </a:p>
        </p:txBody>
      </p:sp>
      <p:cxnSp>
        <p:nvCxnSpPr>
          <p:cNvPr id="7" name="Straight Connector 6">
            <a:extLst>
              <a:ext uri="{FF2B5EF4-FFF2-40B4-BE49-F238E27FC236}">
                <a16:creationId xmlns:a16="http://schemas.microsoft.com/office/drawing/2014/main" id="{22E7FED4-A62D-2BF6-7424-33F2D212FC2F}"/>
              </a:ext>
            </a:extLst>
          </p:cNvPr>
          <p:cNvCxnSpPr/>
          <p:nvPr/>
        </p:nvCxnSpPr>
        <p:spPr>
          <a:xfrm>
            <a:off x="0" y="800100"/>
            <a:ext cx="12192000" cy="0"/>
          </a:xfrm>
          <a:prstGeom prst="line">
            <a:avLst/>
          </a:prstGeom>
          <a:ln>
            <a:solidFill>
              <a:schemeClr val="accent6">
                <a:lumMod val="75000"/>
              </a:schemeClr>
            </a:solidFill>
          </a:ln>
        </p:spPr>
        <p:style>
          <a:lnRef idx="3">
            <a:schemeClr val="accent6"/>
          </a:lnRef>
          <a:fillRef idx="0">
            <a:schemeClr val="accent6"/>
          </a:fillRef>
          <a:effectRef idx="2">
            <a:schemeClr val="accent6"/>
          </a:effectRef>
          <a:fontRef idx="minor">
            <a:schemeClr val="tx1"/>
          </a:fontRef>
        </p:style>
      </p:cxnSp>
      <p:sp>
        <p:nvSpPr>
          <p:cNvPr id="8" name="TextBox 7">
            <a:extLst>
              <a:ext uri="{FF2B5EF4-FFF2-40B4-BE49-F238E27FC236}">
                <a16:creationId xmlns:a16="http://schemas.microsoft.com/office/drawing/2014/main" id="{A651D974-0A40-3E0D-8934-C28245F7F10C}"/>
              </a:ext>
            </a:extLst>
          </p:cNvPr>
          <p:cNvSpPr txBox="1"/>
          <p:nvPr/>
        </p:nvSpPr>
        <p:spPr>
          <a:xfrm>
            <a:off x="123825" y="108525"/>
            <a:ext cx="8172450" cy="584775"/>
          </a:xfrm>
          <a:prstGeom prst="rect">
            <a:avLst/>
          </a:prstGeom>
          <a:noFill/>
        </p:spPr>
        <p:txBody>
          <a:bodyPr wrap="square" rtlCol="0">
            <a:spAutoFit/>
          </a:bodyPr>
          <a:lstStyle/>
          <a:p>
            <a:r>
              <a:rPr lang="en-US" sz="3200" b="1" dirty="0">
                <a:solidFill>
                  <a:schemeClr val="accent6">
                    <a:lumMod val="50000"/>
                  </a:schemeClr>
                </a:solidFill>
                <a:effectLst>
                  <a:outerShdw blurRad="38100" dist="38100" dir="2700000" algn="tl">
                    <a:srgbClr val="000000">
                      <a:alpha val="43137"/>
                    </a:srgbClr>
                  </a:outerShdw>
                </a:effectLst>
              </a:rPr>
              <a:t>Business Insights &amp; Recommendations</a:t>
            </a:r>
          </a:p>
        </p:txBody>
      </p:sp>
      <p:sp>
        <p:nvSpPr>
          <p:cNvPr id="10" name="TextBox 9">
            <a:extLst>
              <a:ext uri="{FF2B5EF4-FFF2-40B4-BE49-F238E27FC236}">
                <a16:creationId xmlns:a16="http://schemas.microsoft.com/office/drawing/2014/main" id="{5756940F-6835-EFB4-7634-A07F8E65DF33}"/>
              </a:ext>
            </a:extLst>
          </p:cNvPr>
          <p:cNvSpPr txBox="1"/>
          <p:nvPr/>
        </p:nvSpPr>
        <p:spPr>
          <a:xfrm>
            <a:off x="223839" y="1487174"/>
            <a:ext cx="5614987" cy="3647152"/>
          </a:xfrm>
          <a:prstGeom prst="rect">
            <a:avLst/>
          </a:prstGeom>
          <a:solidFill>
            <a:schemeClr val="accent6">
              <a:lumMod val="20000"/>
              <a:lumOff val="80000"/>
            </a:schemeClr>
          </a:solidFill>
        </p:spPr>
        <p:txBody>
          <a:bodyPr wrap="square" rtlCol="0">
            <a:spAutoFit/>
          </a:bodyPr>
          <a:lstStyle/>
          <a:p>
            <a:endParaRPr lang="en-US" sz="2000" b="1" dirty="0">
              <a:effectLst>
                <a:outerShdw blurRad="38100" dist="38100" dir="2700000" algn="tl">
                  <a:srgbClr val="000000">
                    <a:alpha val="43137"/>
                  </a:srgbClr>
                </a:outerShdw>
              </a:effectLst>
            </a:endParaRPr>
          </a:p>
          <a:p>
            <a:endParaRPr lang="en-US" sz="2000" b="1" dirty="0">
              <a:effectLst>
                <a:outerShdw blurRad="38100" dist="38100" dir="2700000" algn="tl">
                  <a:srgbClr val="000000">
                    <a:alpha val="43137"/>
                  </a:srgbClr>
                </a:outerShdw>
              </a:effectLst>
            </a:endParaRPr>
          </a:p>
          <a:p>
            <a:endParaRPr lang="en-US" sz="2000" b="1" dirty="0">
              <a:effectLst>
                <a:outerShdw blurRad="38100" dist="38100" dir="2700000" algn="tl">
                  <a:srgbClr val="000000">
                    <a:alpha val="43137"/>
                  </a:srgbClr>
                </a:outerShdw>
              </a:effectLst>
            </a:endParaRPr>
          </a:p>
          <a:p>
            <a:pPr marL="285750" indent="-285750">
              <a:buFont typeface="Arial" panose="020B0604020202020204" pitchFamily="34" charset="0"/>
              <a:buChar char="•"/>
            </a:pPr>
            <a:r>
              <a:rPr lang="en-US" sz="1700" dirty="0"/>
              <a:t>The business processed 21,350 orders and generated $817,860 in total revenue.</a:t>
            </a:r>
          </a:p>
          <a:p>
            <a:pPr marL="285750" indent="-285750">
              <a:buFont typeface="Arial" panose="020B0604020202020204" pitchFamily="34" charset="0"/>
              <a:buChar char="•"/>
            </a:pPr>
            <a:r>
              <a:rPr lang="en-US" sz="1700" dirty="0"/>
              <a:t>Large-sized pizzas were the most preferred choice among customers.</a:t>
            </a:r>
          </a:p>
          <a:p>
            <a:pPr marL="285750" indent="-285750">
              <a:buFont typeface="Arial" panose="020B0604020202020204" pitchFamily="34" charset="0"/>
              <a:buChar char="•"/>
            </a:pPr>
            <a:r>
              <a:rPr lang="en-US" sz="1700" dirty="0"/>
              <a:t>The classic category recorded the highest quantity sold.</a:t>
            </a:r>
          </a:p>
          <a:p>
            <a:pPr marL="285750" indent="-285750">
              <a:buFont typeface="Arial" panose="020B0604020202020204" pitchFamily="34" charset="0"/>
              <a:buChar char="•"/>
            </a:pPr>
            <a:r>
              <a:rPr lang="en-US" sz="1700" dirty="0"/>
              <a:t>Premium pizzas generated higher revenue despite lower order volumes.</a:t>
            </a:r>
          </a:p>
          <a:p>
            <a:pPr marL="285750" indent="-285750">
              <a:buFont typeface="Arial" panose="020B0604020202020204" pitchFamily="34" charset="0"/>
              <a:buChar char="•"/>
            </a:pPr>
            <a:r>
              <a:rPr lang="en-US" sz="1700" dirty="0"/>
              <a:t>Customer demand was concentrated around a few popular products.</a:t>
            </a:r>
          </a:p>
          <a:p>
            <a:endParaRPr lang="en-US" dirty="0"/>
          </a:p>
        </p:txBody>
      </p:sp>
      <p:sp>
        <p:nvSpPr>
          <p:cNvPr id="11" name="TextBox 10">
            <a:extLst>
              <a:ext uri="{FF2B5EF4-FFF2-40B4-BE49-F238E27FC236}">
                <a16:creationId xmlns:a16="http://schemas.microsoft.com/office/drawing/2014/main" id="{C3804E53-A4B1-340B-A5AD-B71EB6BA1332}"/>
              </a:ext>
            </a:extLst>
          </p:cNvPr>
          <p:cNvSpPr txBox="1"/>
          <p:nvPr/>
        </p:nvSpPr>
        <p:spPr>
          <a:xfrm>
            <a:off x="223837" y="5975368"/>
            <a:ext cx="11744325" cy="615553"/>
          </a:xfrm>
          <a:prstGeom prst="rect">
            <a:avLst/>
          </a:prstGeom>
          <a:solidFill>
            <a:schemeClr val="accent6">
              <a:lumMod val="20000"/>
              <a:lumOff val="80000"/>
            </a:schemeClr>
          </a:solidFill>
        </p:spPr>
        <p:txBody>
          <a:bodyPr wrap="square" rtlCol="0">
            <a:spAutoFit/>
          </a:bodyPr>
          <a:lstStyle/>
          <a:p>
            <a:r>
              <a:rPr lang="en-US" sz="1700" dirty="0"/>
              <a:t>This project demonstrates how SQL can be used to transform raw transactional data into actionable business insights. The analysis helped identify customer preferences, product performance, and revenue trends that can support strategic decision-making.</a:t>
            </a:r>
          </a:p>
        </p:txBody>
      </p:sp>
      <p:pic>
        <p:nvPicPr>
          <p:cNvPr id="13" name="Graphic 12" descr="Customer review with solid fill">
            <a:extLst>
              <a:ext uri="{FF2B5EF4-FFF2-40B4-BE49-F238E27FC236}">
                <a16:creationId xmlns:a16="http://schemas.microsoft.com/office/drawing/2014/main" id="{3E81101B-690E-2984-0130-A5CA18C8D3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38426" y="1606663"/>
            <a:ext cx="785812" cy="785812"/>
          </a:xfrm>
          <a:prstGeom prst="rect">
            <a:avLst/>
          </a:prstGeom>
        </p:spPr>
      </p:pic>
      <p:pic>
        <p:nvPicPr>
          <p:cNvPr id="15" name="Graphic 14" descr="Classroom with solid fill">
            <a:extLst>
              <a:ext uri="{FF2B5EF4-FFF2-40B4-BE49-F238E27FC236}">
                <a16:creationId xmlns:a16="http://schemas.microsoft.com/office/drawing/2014/main" id="{D3B1E4F9-D091-C67C-D132-F94CBB65A1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5380" y="1606663"/>
            <a:ext cx="785812" cy="785812"/>
          </a:xfrm>
          <a:prstGeom prst="rect">
            <a:avLst/>
          </a:prstGeom>
        </p:spPr>
      </p:pic>
      <p:sp>
        <p:nvSpPr>
          <p:cNvPr id="18" name="TextBox 17">
            <a:extLst>
              <a:ext uri="{FF2B5EF4-FFF2-40B4-BE49-F238E27FC236}">
                <a16:creationId xmlns:a16="http://schemas.microsoft.com/office/drawing/2014/main" id="{964F1754-5A0D-DDF0-9183-6147772580BD}"/>
              </a:ext>
            </a:extLst>
          </p:cNvPr>
          <p:cNvSpPr txBox="1"/>
          <p:nvPr/>
        </p:nvSpPr>
        <p:spPr>
          <a:xfrm>
            <a:off x="223837" y="1025509"/>
            <a:ext cx="5614989"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KEY INSIGHTS</a:t>
            </a:r>
          </a:p>
        </p:txBody>
      </p:sp>
      <p:sp>
        <p:nvSpPr>
          <p:cNvPr id="19" name="TextBox 18">
            <a:extLst>
              <a:ext uri="{FF2B5EF4-FFF2-40B4-BE49-F238E27FC236}">
                <a16:creationId xmlns:a16="http://schemas.microsoft.com/office/drawing/2014/main" id="{7616214D-0B42-EBC8-8655-E3DD956E1E19}"/>
              </a:ext>
            </a:extLst>
          </p:cNvPr>
          <p:cNvSpPr txBox="1"/>
          <p:nvPr/>
        </p:nvSpPr>
        <p:spPr>
          <a:xfrm>
            <a:off x="6353175" y="1025509"/>
            <a:ext cx="5614987"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BUSINESS RECOMMENDATIONS</a:t>
            </a:r>
          </a:p>
        </p:txBody>
      </p:sp>
      <p:cxnSp>
        <p:nvCxnSpPr>
          <p:cNvPr id="21" name="Straight Connector 20">
            <a:extLst>
              <a:ext uri="{FF2B5EF4-FFF2-40B4-BE49-F238E27FC236}">
                <a16:creationId xmlns:a16="http://schemas.microsoft.com/office/drawing/2014/main" id="{04F7B51E-CC36-41DF-D6A7-5A2C583CF3CD}"/>
              </a:ext>
            </a:extLst>
          </p:cNvPr>
          <p:cNvCxnSpPr/>
          <p:nvPr/>
        </p:nvCxnSpPr>
        <p:spPr>
          <a:xfrm>
            <a:off x="6095999" y="800100"/>
            <a:ext cx="0" cy="4505325"/>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9837CA1B-5B17-915F-F2B0-EF365DDBCFC0}"/>
              </a:ext>
            </a:extLst>
          </p:cNvPr>
          <p:cNvCxnSpPr/>
          <p:nvPr/>
        </p:nvCxnSpPr>
        <p:spPr>
          <a:xfrm>
            <a:off x="0" y="5314950"/>
            <a:ext cx="1219200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B0A66441-3BCC-C546-A2F0-DD4D3163786F}"/>
              </a:ext>
            </a:extLst>
          </p:cNvPr>
          <p:cNvSpPr txBox="1"/>
          <p:nvPr/>
        </p:nvSpPr>
        <p:spPr>
          <a:xfrm>
            <a:off x="223837" y="5530833"/>
            <a:ext cx="11744325" cy="461665"/>
          </a:xfrm>
          <a:prstGeom prst="rect">
            <a:avLst/>
          </a:prstGeom>
          <a:solidFill>
            <a:schemeClr val="accent6">
              <a:lumMod val="60000"/>
              <a:lumOff val="40000"/>
            </a:schemeClr>
          </a:solidFill>
        </p:spPr>
        <p:txBody>
          <a:bodyPr wrap="square" rtlCol="0">
            <a:spAutoFit/>
          </a:bodyPr>
          <a:lstStyle/>
          <a:p>
            <a:pPr algn="ctr"/>
            <a:r>
              <a:rPr lang="en-US" sz="2400" b="1" dirty="0">
                <a:effectLst>
                  <a:outerShdw blurRad="38100" dist="38100" dir="2700000" algn="tl">
                    <a:srgbClr val="000000">
                      <a:alpha val="43137"/>
                    </a:srgbClr>
                  </a:outerShdw>
                </a:effectLst>
              </a:rPr>
              <a:t>CONCLUSION</a:t>
            </a:r>
          </a:p>
        </p:txBody>
      </p:sp>
    </p:spTree>
    <p:extLst>
      <p:ext uri="{BB962C8B-B14F-4D97-AF65-F5344CB8AC3E}">
        <p14:creationId xmlns:p14="http://schemas.microsoft.com/office/powerpoint/2010/main" val="1892000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521</TotalTime>
  <Words>414</Words>
  <Application>Microsoft Office PowerPoint</Application>
  <PresentationFormat>Widescreen</PresentationFormat>
  <Paragraphs>91</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PIZZA SALES ANALYSIS USING SQL</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 Dalal</dc:creator>
  <cp:lastModifiedBy>Krish Dalal</cp:lastModifiedBy>
  <cp:revision>25</cp:revision>
  <dcterms:created xsi:type="dcterms:W3CDTF">2026-06-25T07:18:30Z</dcterms:created>
  <dcterms:modified xsi:type="dcterms:W3CDTF">2026-06-25T16:00:14Z</dcterms:modified>
</cp:coreProperties>
</file>